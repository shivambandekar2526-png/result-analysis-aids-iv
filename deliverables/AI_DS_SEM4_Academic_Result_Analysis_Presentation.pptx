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1645920"/>
            <a:ext cx="816833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50" b="1">
                <a:solidFill>
                  <a:srgbClr val="0EA5E9"/>
                </a:solidFill>
                <a:latin typeface="Segoe UI"/>
              </a:defRPr>
            </a:pPr>
            <a:r>
              <a:t>DEPARTMENT OF ARTIFICIAL INTELLIGENCE &amp; DATA SCIENCE  |  ACADEMIC AUDIT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Semester IV Academic Result Analysis &amp;</a:t>
            </a:r>
            <a:br/>
            <a:r>
              <a:t>Machine Learning Student Segmentation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An End-to-End Investigation of University Gazette Outcomes, Core Subject Bottlenecks,</a:t>
            </a:r>
            <a:br/>
            <a:r>
              <a:t>Competency Correlation Drivers, and 4-Cluster K-Means Behavioral Personas</a:t>
            </a:r>
          </a:p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• Cohort Size: 88 Students    • Curricular Features: 113 Features    • Verification: 100% Mathematical 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EXECUTIVE SUMMARY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Semester IV Academic Performance at a Glance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Holistic synthesis of cohort examination metrics, clearance rates, and distinction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420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6916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2563EB"/>
                </a:solidFill>
                <a:latin typeface="Segoe UI"/>
              </a:defRPr>
            </a:pPr>
            <a:r>
              <a:t>88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Registered Students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Full university gazette cohort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554480"/>
            <a:ext cx="25420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21024" y="16916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10B981"/>
                </a:solidFill>
                <a:latin typeface="Segoe UI"/>
              </a:defRPr>
            </a:pPr>
            <a:r>
              <a:t>68.18%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Overall Pass Rate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60 Clear | 27 ATKT | 1 Absent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54480"/>
            <a:ext cx="25420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6916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8B5CF6"/>
                </a:solidFill>
                <a:latin typeface="Segoe UI"/>
              </a:defRPr>
            </a:pPr>
            <a:r>
              <a:t>7.55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Mean SGPI (Passing)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Median 7.43 | Cohort std 0.74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54480"/>
            <a:ext cx="25420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0848" y="1691640"/>
            <a:ext cx="2212848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59E0B"/>
                </a:solidFill>
                <a:latin typeface="Segoe UI"/>
              </a:defRPr>
            </a:pPr>
            <a:r>
              <a:t>9.13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Top Academic Score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Shivam Bandekar (85.55% agg)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2578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48006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Key Cohort Observations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Healthy Passing Bell Curve: </a:t>
            </a:r>
            <a:r>
              <a:rPr sz="1000">
                <a:solidFill>
                  <a:srgbClr val="0F172A"/>
                </a:solidFill>
                <a:latin typeface="Segoe UI"/>
              </a:rPr>
              <a:t>Passing candidates form a robust distribution with 18 distinction performers achieving SGPI &gt;= 8.00 (20.5% of total class).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Asymmetric Assessment Risk: </a:t>
            </a:r>
            <a:r>
              <a:rPr sz="1000">
                <a:solidFill>
                  <a:srgbClr val="0F172A"/>
                </a:solidFill>
                <a:latin typeface="Segoe UI"/>
              </a:rPr>
              <a:t>Theoretical external examinations represent 100% of academic backlogs, whereas laboratory and internal term-work achieve &gt;98% clearance.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High Foundational Competence: </a:t>
            </a:r>
            <a:r>
              <a:rPr sz="1000">
                <a:solidFill>
                  <a:srgbClr val="0F172A"/>
                </a:solidFill>
                <a:latin typeface="Segoe UI"/>
              </a:rPr>
              <a:t>Over 76% of students fall into High Achiever or Solid Performer segments, demonstrating strong overall technical aptitude.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563EB"/>
                </a:solidFill>
                <a:latin typeface="Segoe UI"/>
              </a:rPr>
              <a:t>• Identified Remedial Cohort: </a:t>
            </a:r>
            <a:r>
              <a:rPr sz="1000">
                <a:solidFill>
                  <a:srgbClr val="0F172A"/>
                </a:solidFill>
                <a:latin typeface="Segoe UI"/>
              </a:rPr>
              <a:t>21 students (23.9%) experience chronic difficulty across multiple theory examinations, requiring structured mid-term 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154680"/>
            <a:ext cx="52578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sul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246120"/>
            <a:ext cx="5001768" cy="2880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CURRICULUM ARCHITECTURE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Examination Structure &amp; Master Dataset Schema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Official University evaluation scheme across 11 credit courses, credits, and verification standards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Core Theory Papers (100M)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CT: Computational Theory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3 Credits | 80 Ext + 20 Int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DBMS: Database Management Systems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3 Credits | 80 Ext + 20 Int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OS: Operating Systems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3 Credits | 80 Ext + 20 Int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FTS: Fundamentals of Telecom Systems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3 Credits | 80 Ext + 20 Int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OE: Chhatrapati Shivaji Maharaj Policy</a:t>
            </a:r>
          </a:p>
          <a:p>
            <a:pPr>
              <a:spcAft>
                <a:spcPts val="4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2 Credits | 60 Ext + 15 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55448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73736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Laboratories &amp; Term Work (50M)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DBMS LAB: Database Systems Lab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1 Credit | 25 TW + 25 Oral/Prac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OS LAB: Operating Systems Lab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1 Credit | 25 TW + 25 Oral/Prac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TC LAB: Telecommunication Lab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1 Credit | 25 TW + 25 Oral/Prac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MINIPROJ: Mini Project 2A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2 Credits | 25 TW + 25 Oral/Prac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BMD: Business Model Development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1 Credit | 25 TW Continuous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DT: Design Thinking Workshop</a:t>
            </a:r>
          </a:p>
          <a:p>
            <a:pPr>
              <a:spcAft>
                <a:spcPts val="300"/>
              </a:spcAft>
              <a:defRPr sz="850">
                <a:solidFill>
                  <a:srgbClr val="64748B"/>
                </a:solidFill>
                <a:latin typeface="Segoe UI"/>
              </a:defRPr>
            </a:pPr>
            <a:r>
              <a:t>   2 Credits | 50 TW Continuous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55448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73736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Gazette Quality Audit (100%)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8B5CF6"/>
                </a:solidFill>
              </a:rPr>
              <a:t>✓ Zero Duplication: </a:t>
            </a:r>
            <a:r>
              <a:rPr sz="900">
                <a:solidFill>
                  <a:srgbClr val="0F172A"/>
                </a:solidFill>
              </a:rPr>
              <a:t>Verified 88 unique student records, 0 duplicate seat numbers or names.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8B5CF6"/>
                </a:solidFill>
              </a:rPr>
              <a:t>✓ Formula Parity: </a:t>
            </a:r>
            <a:r>
              <a:rPr sz="900">
                <a:solidFill>
                  <a:srgbClr val="0F172A"/>
                </a:solidFill>
              </a:rPr>
              <a:t>Total credits (aC = 23) and weighted grade points (aCG) match university formula SGPI = aCG/aC with 0 residual discrepancy.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8B5CF6"/>
                </a:solidFill>
              </a:rPr>
              <a:t>✓ Component Completeness: </a:t>
            </a:r>
            <a:r>
              <a:rPr sz="900">
                <a:solidFill>
                  <a:srgbClr val="0F172A"/>
                </a:solidFill>
              </a:rPr>
              <a:t>Every internal, external, term-work, oral, and grade code rigorously captured across 113 dataframe columns.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8B5CF6"/>
                </a:solidFill>
              </a:rPr>
              <a:t>✓ Status Classification: </a:t>
            </a:r>
            <a:r>
              <a:rPr sz="900">
                <a:solidFill>
                  <a:srgbClr val="0F172A"/>
                </a:solidFill>
              </a:rPr>
              <a:t>Distinct separation of successful passers (P), unsuccessful backlog holders (F), and official absent cases (A).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RESULT BREAKDOWN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Clearance Status &amp; Backlog (KT) Severity Distribution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Granular examination of successful students, single-subject backlogs, and multi-subject failure clusters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21208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554480"/>
            <a:ext cx="505937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Result Category Distribution</a:t>
            </a:r>
          </a:p>
          <a:p>
            <a:pPr>
              <a:spcAft>
                <a:spcPts val="3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•  Successful (Clear Pass)         :  60 Students  (68.18%)</a:t>
            </a:r>
          </a:p>
          <a:p>
            <a:pPr>
              <a:spcAft>
                <a:spcPts val="300"/>
              </a:spcAft>
              <a:defRPr sz="1000" b="1">
                <a:solidFill>
                  <a:srgbClr val="EF4444"/>
                </a:solidFill>
                <a:latin typeface="Segoe UI"/>
              </a:defRPr>
            </a:pPr>
            <a:r>
              <a:t>•  Unsuccessful (ATKT / Backlog)   :  27 Students  (30.68%)</a:t>
            </a:r>
          </a:p>
          <a:p>
            <a:pPr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•  Absentee (Zero Attendance)      :  1 Student    (1.14%)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505937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886200"/>
            <a:ext cx="46936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Backlog Severity Distribution (28 Students)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Isolated Backlog (1 Subject): </a:t>
            </a:r>
            <a:r>
              <a:rPr sz="900">
                <a:solidFill>
                  <a:srgbClr val="0F172A"/>
                </a:solidFill>
              </a:rPr>
              <a:t>6 Students (6.8%) — DBMS theory or OS theory; easily recoverable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Moderate Backlog (2 Subjects): </a:t>
            </a:r>
            <a:r>
              <a:rPr sz="900">
                <a:solidFill>
                  <a:srgbClr val="0F172A"/>
                </a:solidFill>
              </a:rPr>
              <a:t>6 Students (6.8%) — Dual theory failure (CT + OS or DBMS + OS)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Severe Backlog (3 - 5 Subjects): </a:t>
            </a:r>
            <a:r>
              <a:rPr sz="900">
                <a:solidFill>
                  <a:srgbClr val="0F172A"/>
                </a:solidFill>
              </a:rPr>
              <a:t>8 Students (9.1%) — Multiple core deficits; requires intensive remediation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Critical / Terminal (6 - 11 Subjects): </a:t>
            </a:r>
            <a:r>
              <a:rPr sz="900">
                <a:solidFill>
                  <a:srgbClr val="0F172A"/>
                </a:solidFill>
              </a:rPr>
              <a:t>8 Students (9.1%) — General academic collapse or official absenteeism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COHORT DISTRIBUTIONS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Percentage &amp; SGPI Statistical Spread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Kernel Density Estimations (KDE) demonstrating cohort dispersion, central tendencies, and distinction peaks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074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81344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gpa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50749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Distribution Dynamics &amp; Statistical Parameters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Aggregate Percentage Spread: Mean = 62.44%, Median = 66.91%, Standard Deviation = 16.14%. Passing students alone average 70.43%.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• Bimodal SGPI Characteristic: A natural bimodality exists where successful students form a smooth bell curve centered at 7.55 (range 5.48 to 9.13), while unsuccessful candidates default to 0.00 SGPI.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Distinction Threshold (SGPI &gt;= 8.00): 18 students (20.5%) achieved distinction status, demonstrating elite conceptual and applied proficiency.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ACADEMIC EXCELLENCE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Class Toppers Leaderboard — Top 10 Rankers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High-achieving candidates with superior aggregate marks, consistent distinction grades, and SGPI &gt;= 8.35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7589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91640"/>
          <a:ext cx="73152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2651760"/>
                <a:gridCol w="1005840"/>
                <a:gridCol w="1005840"/>
                <a:gridCol w="1005840"/>
              </a:tblGrid>
              <a:tr h="394854"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Seat No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Student Name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Percentage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SGPI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#1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101410074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SHIVAM VILAS BANDEKAR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663 / 775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85.55%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9.13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SHRAVANI VISHWAS MANE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649 / 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83.74%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101410070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SAMIKSHA RAJENDRA BODAKE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627 / 775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80.90%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8.74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PRASAD KISAN BHAJNAWALE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610 / 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78.71%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101410052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NAIK ARYAN UDAY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619 / 775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79.87%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8.65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101410939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MANGILAL SHRAVAN MALVIYA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614 / 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79.23%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101410084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TEJAS JITENDRA SAWANT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613 / 775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79.10%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8.57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ADINATH SOMNATH JAGTAP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616 / 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79.48%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101410086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UNNATI DINESH CHAVAN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606 / 775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78.19%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8.39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4860"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101410049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MAHANGADE OM VIJAY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607 / 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78.32%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20" y="1554480"/>
            <a:ext cx="29562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691640"/>
            <a:ext cx="268193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Topper Case Study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2563EB"/>
                </a:solidFill>
              </a:rPr>
              <a:t>★ Shivam Vilas Bandekar (Rank 1): </a:t>
            </a:r>
            <a:r>
              <a:rPr sz="850">
                <a:solidFill>
                  <a:srgbClr val="0F172A"/>
                </a:solidFill>
              </a:rPr>
              <a:t>Secured an exceptional SGPI of 9.13 with 85.55% aggregate, outperforming 2nd rank by +1.81% and +0.26 SGPI.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2563EB"/>
                </a:solidFill>
              </a:rPr>
              <a:t>★ Theory Excellence: </a:t>
            </a:r>
            <a:r>
              <a:rPr sz="850">
                <a:solidFill>
                  <a:srgbClr val="0F172A"/>
                </a:solidFill>
              </a:rPr>
              <a:t>Highest theory average in cohort (85.0%), demonstrating complete mastery across system architecture and mathematical foundations.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2563EB"/>
                </a:solidFill>
              </a:rPr>
              <a:t>★ Gender Parity in Top 3: </a:t>
            </a:r>
            <a:r>
              <a:rPr sz="850">
                <a:solidFill>
                  <a:srgbClr val="0F172A"/>
                </a:solidFill>
              </a:rPr>
              <a:t>Female scholars hold 2 of the top 3 spots (Shravani Mane #2 at 8.87, Samiksha Bodake #3 at 8.74).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2563EB"/>
                </a:solidFill>
              </a:rPr>
              <a:t>★ Cluster Alignment: </a:t>
            </a:r>
            <a:r>
              <a:rPr sz="850">
                <a:solidFill>
                  <a:srgbClr val="0F172A"/>
                </a:solidFill>
              </a:rPr>
              <a:t>All Top 10 rankers mapped directly into K-Means Cluster 0 (High Achievers / Academic Leaders) with 0.0 standard deviation in subject pass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CURRICULUM DEEP-DIVE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Subject Performance &amp; Difficulty Index Matrix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Course-by-course mean marks, pass percentages, and quantitative identification of curriculum bottlenecks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bject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21208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554480"/>
            <a:ext cx="51508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850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Subject Difficulty &amp; Risk Hierarchy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EF4444"/>
                </a:solidFill>
              </a:rPr>
              <a:t>• Operating Systems (OS) — Hardest Theory
</a:t>
            </a:r>
            <a:r>
              <a:rPr sz="850">
                <a:solidFill>
                  <a:srgbClr val="0F172A"/>
                </a:solidFill>
              </a:rPr>
              <a:t>   Mean Total: 51.08 / 100 | Lowest theory score in cohort. External papers presented highest analytical friction with 12 KT failures.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EF4444"/>
                </a:solidFill>
              </a:rPr>
              <a:t>• Database Management (DBMS) — High Failure Bottleneck
</a:t>
            </a:r>
            <a:r>
              <a:rPr sz="850">
                <a:solidFill>
                  <a:srgbClr val="0F172A"/>
                </a:solidFill>
              </a:rPr>
              <a:t>   Mean Total: 58.23 / 100 | Despite a solid class average, DBMS generated 15 'F' grades in external theory—the highest single-course failure toll.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</a:rPr>
              <a:t>• Fundamentals of Telecom (FTS) — Moderate Friction
</a:t>
            </a:r>
            <a:r>
              <a:rPr sz="850">
                <a:solidFill>
                  <a:srgbClr val="0F172A"/>
                </a:solidFill>
              </a:rPr>
              <a:t>   Mean Total: 54.13 / 100 | Theoretical concepts in communication systems created moderate hurdles for non-hardware aligned candidates.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563EB"/>
                </a:solidFill>
              </a:rPr>
              <a:t>• Computational Theory (CT) — Highest Theory Score
</a:t>
            </a:r>
            <a:r>
              <a:rPr sz="850">
                <a:solidFill>
                  <a:srgbClr val="0F172A"/>
                </a:solidFill>
              </a:rPr>
              <a:t>   Mean Total: 58.86 / 100 | Outperformed all core theoretical courses, exhibiting high student engagement and top grade frequencies.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• Practical Labs &amp; Coursework — Near 100% Clearance
</a:t>
            </a:r>
            <a:r>
              <a:rPr sz="850">
                <a:solidFill>
                  <a:srgbClr val="0F172A"/>
                </a:solidFill>
              </a:rPr>
              <a:t>   DBMS Lab (33.76/50), OS Lab (33.56/50), MiniProj (50.89/75) demonstrated high term-work compliance and oral exam clearance (&gt;98%).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GRADE DISTRIBUTION ANALYSIS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Cohort Grade Frequencies Across All 11 Subjects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Distribution of letter grades (O, A+, A, B+, B, C, D, F) contrasting practical and theoretical courses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_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074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81344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_cell_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50749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Key Grade Allocation Insights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Laboratory Polarization: </a:t>
            </a:r>
            <a:r>
              <a:rPr sz="900">
                <a:solidFill>
                  <a:srgbClr val="0F172A"/>
                </a:solidFill>
              </a:rPr>
              <a:t>Practical labs exhibit an overwhelming concentration of 'O', 'A+', and 'A' grades (&gt;85%), highlighting reliable practical execution across the cohort.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Theory Spread in Core Tech: </a:t>
            </a:r>
            <a:r>
              <a:rPr sz="900">
                <a:solidFill>
                  <a:srgbClr val="0F172A"/>
                </a:solidFill>
              </a:rPr>
              <a:t>DBMS recorded 2 Outstanding (O), 8 A+, 16 A, 20 B+, 11 B, 4 C, 12 D, and 15 F grades—displaying the widest variance in academic outcomes.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The 'D' Grade Accumulation Risk: </a:t>
            </a:r>
            <a:r>
              <a:rPr sz="900">
                <a:solidFill>
                  <a:srgbClr val="0F172A"/>
                </a:solidFill>
              </a:rPr>
              <a:t>Over 22% of passing students secured 'D' grades (pass threshold) in OS and CT external exams, representing borderline performers vulnerable in Sem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ASSESSMENT DISPARITY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Theory vs. Practical Competency Discrepancy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Empirical evidence of a 13.26 percentage point gap between high laboratory scores and written theory struggles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_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21208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554480"/>
            <a:ext cx="51508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850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The 13.26 pp Competency Gap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563EB"/>
                </a:solidFill>
              </a:rPr>
              <a:t>• Mean Theory Percentage: 55.57%
</a:t>
            </a:r>
            <a:r>
              <a:rPr sz="850">
                <a:solidFill>
                  <a:srgbClr val="0F172A"/>
                </a:solidFill>
              </a:rPr>
              <a:t>   Aggregate theory average across 5 major papers. Standard deviation is elevated (18.2%), driven by written external examination rigor.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• Mean Practical Percentage: 68.83%
</a:t>
            </a:r>
            <a:r>
              <a:rPr sz="850">
                <a:solidFill>
                  <a:srgbClr val="0F172A"/>
                </a:solidFill>
              </a:rPr>
              <a:t>   Average laboratory score across DBMS Lab, OS Lab, and TC Lab (34.41 / 50). Students demonstrate steady lab compliance and oral proficiency.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EF4444"/>
                </a:solidFill>
              </a:rPr>
              <a:t>• Root Cause of ATKT Backlogs
</a:t>
            </a:r>
            <a:r>
              <a:rPr sz="850">
                <a:solidFill>
                  <a:srgbClr val="0F172A"/>
                </a:solidFill>
              </a:rPr>
              <a:t>   100% of failed course components occurred in external theory papers. Zero students failed laboratory coursework or term-work submissions.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8B5CF6"/>
                </a:solidFill>
              </a:rPr>
              <a:t>• The 'Practical-Strong / Theory-Deficit' Syndrome
</a:t>
            </a:r>
            <a:r>
              <a:rPr sz="850">
                <a:solidFill>
                  <a:srgbClr val="0F172A"/>
                </a:solidFill>
              </a:rPr>
              <a:t>   A distinct segment of 18 students achieves &gt;70% in practical implementations but drops below 40% in theoretical pen-and-paper examinations.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F59E0B"/>
                </a:solidFill>
              </a:rPr>
              <a:t>• Institutional Remedy
</a:t>
            </a:r>
            <a:r>
              <a:rPr sz="850">
                <a:solidFill>
                  <a:srgbClr val="0F172A"/>
                </a:solidFill>
              </a:rPr>
              <a:t>   Transition semester assessments toward continuous applied testing rather than high-stakes memorization-heavy end-semester papers.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CORRELATION ANALYSIS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Inter-Subject Correlations &amp; Primary SGPI Determinants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Pearson correlation matrix quantifying which foundational subjects most heavily dictate overall academic success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_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21208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9360" y="1554480"/>
            <a:ext cx="515081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850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Correlation Strengths with Total Marks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• Computational Theory (CT Total): </a:t>
            </a:r>
            <a:r>
              <a:rPr b="1" sz="900">
                <a:solidFill>
                  <a:srgbClr val="2563EB"/>
                </a:solidFill>
              </a:rPr>
              <a:t>r = 0.904 </a:t>
            </a:r>
            <a:r>
              <a:rPr sz="850">
                <a:solidFill>
                  <a:srgbClr val="64748B"/>
                </a:solidFill>
              </a:rPr>
              <a:t>(Highest single predictor of cohort score)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• Database Management (DBMS Total): </a:t>
            </a:r>
            <a:r>
              <a:rPr b="1" sz="900">
                <a:solidFill>
                  <a:srgbClr val="2563EB"/>
                </a:solidFill>
              </a:rPr>
              <a:t>r = 0.896 </a:t>
            </a:r>
            <a:r>
              <a:rPr sz="850">
                <a:solidFill>
                  <a:srgbClr val="64748B"/>
                </a:solidFill>
              </a:rPr>
              <a:t>(Critical benchmark for software core competence)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• Operating Systems (OS Total): </a:t>
            </a:r>
            <a:r>
              <a:rPr b="1" sz="900">
                <a:solidFill>
                  <a:srgbClr val="2563EB"/>
                </a:solidFill>
              </a:rPr>
              <a:t>r = 0.892 </a:t>
            </a:r>
            <a:r>
              <a:rPr sz="850">
                <a:solidFill>
                  <a:srgbClr val="64748B"/>
                </a:solidFill>
              </a:rPr>
              <a:t>(Decisive driver of overall academic standing)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• OS Laboratory (OS LAB Total): </a:t>
            </a:r>
            <a:r>
              <a:rPr b="1" sz="900">
                <a:solidFill>
                  <a:srgbClr val="10B981"/>
                </a:solidFill>
              </a:rPr>
              <a:t>r = 0.878 </a:t>
            </a:r>
            <a:r>
              <a:rPr sz="850">
                <a:solidFill>
                  <a:srgbClr val="64748B"/>
                </a:solidFill>
              </a:rPr>
              <a:t>(Highest correlating practical laboratory)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• Fundamentals of Telecom (FTS): </a:t>
            </a:r>
            <a:r>
              <a:rPr b="1" sz="900">
                <a:solidFill>
                  <a:srgbClr val="8B5CF6"/>
                </a:solidFill>
              </a:rPr>
              <a:t>r = 0.871 </a:t>
            </a:r>
            <a:r>
              <a:rPr sz="850">
                <a:solidFill>
                  <a:srgbClr val="64748B"/>
                </a:solidFill>
              </a:rPr>
              <a:t>(Strong theoretical foundation correlation)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• Design Thinking Workshop (DT): </a:t>
            </a:r>
            <a:r>
              <a:rPr b="1" sz="900">
                <a:solidFill>
                  <a:srgbClr val="F59E0B"/>
                </a:solidFill>
              </a:rPr>
              <a:t>r = 0.854 </a:t>
            </a:r>
            <a:r>
              <a:rPr sz="850">
                <a:solidFill>
                  <a:srgbClr val="64748B"/>
                </a:solidFill>
              </a:rPr>
              <a:t>(Consistent predictor of creative engagement)</a:t>
            </a:r>
          </a:p>
          <a:p>
            <a:pPr>
              <a:spcBef>
                <a:spcPts val="800"/>
              </a:spcBef>
              <a:defRPr sz="900" b="1">
                <a:solidFill>
                  <a:srgbClr val="2563EB"/>
                </a:solidFill>
                <a:latin typeface="Segoe UI"/>
              </a:defRPr>
            </a:pPr>
            <a:r>
              <a:t>Strategic Insight: CT, DBMS, and OS exhibit extremely high mutual co-linearity (r &gt; 0.82). Mastery in one core theoretical system directly cascades into success across the other two.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DEMOGRAPHIC ANALYTICS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Gender Composition &amp; Comparative Academic Outcomes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Evaluation of gender representation, clearance percentages, and score distributions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da_cell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074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81344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da_cell_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50749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Gender Performance Comparison &amp; Statistical Significance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2563EB"/>
                </a:solidFill>
              </a:rPr>
              <a:t>• Demographic Composition: </a:t>
            </a:r>
            <a:r>
              <a:rPr sz="850">
                <a:solidFill>
                  <a:srgbClr val="0F172A"/>
                </a:solidFill>
              </a:rPr>
              <a:t>60 Male students (68.18%) and 28 Female students (31.82%) appeared for the Semester IV examination.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2563EB"/>
                </a:solidFill>
              </a:rPr>
              <a:t>• Academic Performance Edge: </a:t>
            </a:r>
            <a:r>
              <a:rPr sz="850">
                <a:solidFill>
                  <a:srgbClr val="0F172A"/>
                </a:solidFill>
              </a:rPr>
              <a:t>Female candidates achieved a higher mean percentage (67.13% vs 60.25% for males) and higher median score (68.58% vs 65.87%).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2563EB"/>
                </a:solidFill>
              </a:rPr>
              <a:t>• Pass Rate &amp; Backlog Resistance: </a:t>
            </a:r>
            <a:r>
              <a:rPr sz="850">
                <a:solidFill>
                  <a:srgbClr val="0F172A"/>
                </a:solidFill>
              </a:rPr>
              <a:t>Female pass rate was 71.43% (20/28) versus 66.67% (40/60) for males, reflecting superior overall consistency across core theory courses.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2563EB"/>
                </a:solidFill>
              </a:rPr>
              <a:t>• Distinction Representation: </a:t>
            </a:r>
            <a:r>
              <a:rPr sz="850">
                <a:solidFill>
                  <a:srgbClr val="0F172A"/>
                </a:solidFill>
              </a:rPr>
              <a:t>Shravani Vishwas Mane secured Rank 2 overall (83.74%, 8.87 SGPI) and Samiksha Bodake secured Rank 3 (80.90%, 8.74 SGPI).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05840"/>
            <a:ext cx="963137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UNSUPERVISED MACHINE LEARNING FRAMEWORK</a:t>
            </a:r>
          </a:p>
          <a:p>
            <a:pPr>
              <a:spcAft>
                <a:spcPts val="1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From Traditional Grades to Competency-Based Clustering</a:t>
            </a:r>
          </a:p>
          <a:p>
            <a:pPr>
              <a:spcAft>
                <a:spcPts val="20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Conventional academic evaluation collapses multidimensional student learning into a single scalar GPA, obscuring distinct cognitive archetypes, practical competencies, and latent failure modes. Our K-Means clustering pipeline applies unsupervised learning to segment students based on multi-axis behavioral vectors.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1. Multi-Axis Feature Engineering
</a:t>
            </a:r>
            <a:r>
              <a:rPr sz="950">
                <a:solidFill>
                  <a:srgbClr val="FFFFFF"/>
                </a:solidFill>
              </a:rPr>
              <a:t>Engineered 17 normalized features spanning Core Theory mastery, Laboratory/Hands-on agility, Coursework/Projects, External-Internal gap, and Cross-subject score standard deviation (Consistency).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2. Rigorous Scaling &amp; Optimization
</a:t>
            </a:r>
            <a:r>
              <a:rPr sz="950">
                <a:solidFill>
                  <a:srgbClr val="FFFFFF"/>
                </a:solidFill>
              </a:rPr>
              <a:t>StandardScaler standardization applied with median imputation audit. Multi-metric K evaluation testing K=2 through K=7 using Inertia Elbow, Silhouette coefficients, and Davies-Bouldin separation.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3. Evidence-Based Persona Mapping
</a:t>
            </a:r>
            <a:r>
              <a:rPr sz="950">
                <a:solidFill>
                  <a:srgbClr val="FFFFFF"/>
                </a:solidFill>
              </a:rPr>
              <a:t>Cluster centroids mapped dynamically to actionable pedagogical personas, enabling tailored semester-long academic interventions rather than generic post-facto failure warnings.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CLUSTERING DIAGNOSTICS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Optimal Cluster Selection: Elbow Method &amp; Silhouette Scores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Mathematical evaluation of cluster partitions across K=2 through K=7 to identify peak geometric cohesion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ustering_v2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074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81344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ustering_v2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50749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Mathematical Proof of K = 4 Optimality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B981"/>
                </a:solidFill>
              </a:rPr>
              <a:t>✓ Inertia Curve Inflection (Elbow): </a:t>
            </a:r>
            <a:r>
              <a:rPr sz="900">
                <a:solidFill>
                  <a:srgbClr val="0F172A"/>
                </a:solidFill>
              </a:rPr>
              <a:t>A sharp rate-of-change reduction in within-cluster sum-of-squares (WCSS) appears between K=3 and K=4, signaling diminishing returns beyond K=4.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B981"/>
                </a:solidFill>
              </a:rPr>
              <a:t>✓ Silhouette Peak (0.2471): </a:t>
            </a:r>
            <a:r>
              <a:rPr sz="900">
                <a:solidFill>
                  <a:srgbClr val="0F172A"/>
                </a:solidFill>
              </a:rPr>
              <a:t>K=4 maximizes the average silhouette width without generating negative silhouette slippage or degenerate single-student clusters.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0B981"/>
                </a:solidFill>
              </a:rPr>
              <a:t>✓ Pedagogical Interpretability: </a:t>
            </a:r>
            <a:r>
              <a:rPr sz="900">
                <a:solidFill>
                  <a:srgbClr val="0F172A"/>
                </a:solidFill>
              </a:rPr>
              <a:t>K=4 cleanly partitions the student body into 4 actionable institutional cohorts: High Achievers (33), Solid Performers (34), Developing (13), and Critical Support (8).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DIMENSIONALITY REDUCTION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2D Principal Component Analysis (PCA) Projection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Projecting 17 high-dimensional competency features into 2 principal axes to inspect cluster boundary separation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ustering_v2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21208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554480"/>
            <a:ext cx="505937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4693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Principal Component Variance &amp; Axes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563EB"/>
                </a:solidFill>
              </a:rPr>
              <a:t>• PC1: Overall Academic Aptitude (~52% Variance)
</a:t>
            </a:r>
            <a:r>
              <a:rPr sz="850">
                <a:solidFill>
                  <a:srgbClr val="0F172A"/>
                </a:solidFill>
              </a:rPr>
              <a:t>   Dominant eigenvector heavily weighted on core theoretical examinations (CT, DBMS, OS), aggregate percentage, and overall credit accumulation. Moves left-to-right as performance improves.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8B5CF6"/>
                </a:solidFill>
              </a:rPr>
              <a:t>• PC2: Practical vs Theory Bias (~14% Variance)
</a:t>
            </a:r>
            <a:r>
              <a:rPr sz="850">
                <a:solidFill>
                  <a:srgbClr val="0F172A"/>
                </a:solidFill>
              </a:rPr>
              <a:t>   Secondary eigenvector contrasts laboratory/hands-on agility against written external examinations. Effectively isolates students with high lab marks but depressed theory scores.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• Linear Cluster Separation
</a:t>
            </a:r>
            <a:r>
              <a:rPr sz="850">
                <a:solidFill>
                  <a:srgbClr val="0F172A"/>
                </a:solidFill>
              </a:rPr>
              <a:t>   Clusters 0 (High Achievers) and 1 (Solid Performers) occupy the upper-right quadrant, clearly demarcated from Cluster 2 (Developing) in the lower quadrant.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EF4444"/>
                </a:solidFill>
              </a:rPr>
              <a:t>• Outlier &amp; Critical Isolation
</a:t>
            </a:r>
            <a:r>
              <a:rPr sz="850">
                <a:solidFill>
                  <a:srgbClr val="0F172A"/>
                </a:solidFill>
              </a:rPr>
              <a:t>   Cluster 3 (Critical Intervention / Absent) is heavily segregated in the extreme negative PC1 space, confirming profound academic detachment.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STUDENT SEGMENTATION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4 Academic Personas: Cohort Profiles &amp; Archetypes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Data-driven behavioral personas derived from K-Means clustering across all 88 candidates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CLUSTER 0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High Achievers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33 Students (37.5%)</a:t>
            </a:r>
            <a:br/>
            <a:r>
              <a:t>Mean: 75.86%  |  SGPI: 8.2 – 9.1</a:t>
            </a:r>
          </a:p>
          <a:p>
            <a:pPr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• Theory: 73.2% | Lab: 80.5%</a:t>
            </a:r>
            <a:br/>
            <a:r>
              <a:t>• Pass Rate: 93.9% (31/33)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Top performers with balanced theoretical mastery, distinction grades, and zero backlog risk. Future leadership and capstone candidates.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5544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CLUSTER 1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Solid Performers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34 Students (38.6%)</a:t>
            </a:r>
            <a:br/>
            <a:r>
              <a:t>Mean: 64.08%  |  SGPI: ~7.00</a:t>
            </a:r>
          </a:p>
          <a:p>
            <a:pPr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• Theory: 58.4% | Lab: 73.6%</a:t>
            </a:r>
            <a:br/>
            <a:r>
              <a:t>• Pass Rate: 85.3% (29/34)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Dependable core cohort. Consistent coursework completion; moderate friction in OS/DBMS written exams. Target group for distinction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544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CLUSTER 2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Developing Cohort</a:t>
            </a:r>
          </a:p>
          <a:p>
            <a:pPr>
              <a:spcAft>
                <a:spcPts val="40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13 Students (14.8%)</a:t>
            </a:r>
            <a:br/>
            <a:r>
              <a:t>Mean: 47.01%  |  SGPI: 0.00 (KT)</a:t>
            </a:r>
          </a:p>
          <a:p>
            <a:pPr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• Theory: 39.5% | Lab: 64.3%</a:t>
            </a:r>
            <a:br/>
            <a:r>
              <a:t>• Pass Rate: 0.0% (13 KT)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Marked disparity: maintain passing laboratory scores (64.3%) but collapse in written theory (39.5%). Need urgent theory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544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6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EF4444"/>
                </a:solidFill>
                <a:latin typeface="Segoe UI"/>
              </a:defRPr>
            </a:pPr>
            <a:r>
              <a:t>CLUSTER 3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Critical Support</a:t>
            </a:r>
          </a:p>
          <a:p>
            <a:pPr>
              <a:spcAft>
                <a:spcPts val="400"/>
              </a:spcAft>
              <a:defRPr sz="900" b="1">
                <a:solidFill>
                  <a:srgbClr val="EF4444"/>
                </a:solidFill>
                <a:latin typeface="Segoe UI"/>
              </a:defRPr>
            </a:pPr>
            <a:r>
              <a:t>8 Students (9.1%)</a:t>
            </a:r>
            <a:br/>
            <a:r>
              <a:t>Mean: 25.19%  |  SGPI: 0.00 (KT)</a:t>
            </a:r>
          </a:p>
          <a:p>
            <a:pPr>
              <a:spcAft>
                <a:spcPts val="800"/>
              </a:spcAft>
              <a:defRPr sz="800">
                <a:solidFill>
                  <a:srgbClr val="64748B"/>
                </a:solidFill>
                <a:latin typeface="Segoe UI"/>
              </a:defRPr>
            </a:pPr>
            <a:r>
              <a:t>• Theory: 31.7% | Lab: 7.9%</a:t>
            </a:r>
            <a:br/>
            <a:r>
              <a:t>• Pass Rate: 0.0% (8 KT)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Severe multi-subject failure (avg 7-11 KTs) and chronic absenteeism. Requires immediate administrative counseling and prerequisite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COMPETENCY PROFILING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Multidimensional Cluster Competency Radar &amp; Feature Vectors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Multi-axis radar evaluation comparing Theory, Practical, Coursework, Consistency, and Ext-Int Delta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ustering_v2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07492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81344" y="1554480"/>
            <a:ext cx="5257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means_05_cluster_feature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50749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Competency Signatures Across Clusters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Cluster 0 Shape (Concentric Mastery): </a:t>
            </a:r>
            <a:r>
              <a:rPr sz="900">
                <a:solidFill>
                  <a:srgbClr val="0F172A"/>
                </a:solidFill>
              </a:rPr>
              <a:t>Occupies the outer perimeter across all 5 competency spokes, showing balanced excellence across both hands-on and theoretical axes.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Cluster 1 &amp; 2 Asymmetry (The Theory Pinch): </a:t>
            </a:r>
            <a:r>
              <a:rPr sz="900">
                <a:solidFill>
                  <a:srgbClr val="0F172A"/>
                </a:solidFill>
              </a:rPr>
              <a:t>Cluster 2 displays a pronounced inward indentation on Theory (39.5%) while maintaining healthy extension on Laboratory competence (64.3%).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2563EB"/>
                </a:solidFill>
              </a:rPr>
              <a:t>• Consistency Discrepancy: </a:t>
            </a:r>
            <a:r>
              <a:rPr sz="900">
                <a:solidFill>
                  <a:srgbClr val="0F172A"/>
                </a:solidFill>
              </a:rPr>
              <a:t>Cluster 0 shows tight subject standard deviation (9.0), while Cluster 2 exhibits broad score volatility (18.7), reflecting erratic subject-to-subject engagement.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EXECUTIVE DASHBOARD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Consolidated 6-Panel K-Means Student Personas Dashboard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High-resolution integrated analytical overview synthesizing cluster counts, SGPI spreads, theory-lab scatters, and PCA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means_student_persona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10454335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PREDICTIVE RISK MODELING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Academic Risk Matrix &amp; Early Warning Indicators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Formulating quantitative triggers to detect at-risk students before final semester examination backlogs occur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CRITICAL RISK (Tier 1)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EF4444"/>
                </a:solidFill>
              </a:rPr>
              <a:t>• Cohort Size: </a:t>
            </a:r>
            <a:r>
              <a:rPr sz="850">
                <a:solidFill>
                  <a:srgbClr val="0F172A"/>
                </a:solidFill>
              </a:rPr>
              <a:t>8 Students (9.1% of class)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EF4444"/>
                </a:solidFill>
              </a:rPr>
              <a:t>• Trigger Condition 1: </a:t>
            </a:r>
            <a:r>
              <a:rPr sz="850">
                <a:solidFill>
                  <a:srgbClr val="0F172A"/>
                </a:solidFill>
              </a:rPr>
              <a:t>Attendance &lt; 60% or zero internal test appearance.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EF4444"/>
                </a:solidFill>
              </a:rPr>
              <a:t>• Trigger Condition 2: </a:t>
            </a:r>
            <a:r>
              <a:rPr sz="850">
                <a:solidFill>
                  <a:srgbClr val="0F172A"/>
                </a:solidFill>
              </a:rPr>
              <a:t>Cumulative backlogs &gt;= 4 courses.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EF4444"/>
                </a:solidFill>
              </a:rPr>
              <a:t>• Score Envelope: </a:t>
            </a:r>
            <a:r>
              <a:rPr sz="850">
                <a:solidFill>
                  <a:srgbClr val="0F172A"/>
                </a:solidFill>
              </a:rPr>
              <a:t>Aggregate percentage &lt; 35%.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EF4444"/>
                </a:solidFill>
              </a:rPr>
              <a:t>• Primary Threat: </a:t>
            </a:r>
            <a:r>
              <a:rPr sz="850">
                <a:solidFill>
                  <a:srgbClr val="0F172A"/>
                </a:solidFill>
              </a:rPr>
              <a:t>Year drop (YD) status or total academic discontinuation.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EF4444"/>
                </a:solidFill>
              </a:rPr>
              <a:t>• Mandatory Protocol: </a:t>
            </a:r>
            <a:r>
              <a:rPr sz="850">
                <a:solidFill>
                  <a:srgbClr val="0F172A"/>
                </a:solidFill>
              </a:rPr>
              <a:t>Parental notification, direct academic counseling, mandatory prerequisite catch-up tutorials.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55448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73736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MODERATE RISK (Tier 2)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F59E0B"/>
                </a:solidFill>
              </a:rPr>
              <a:t>• Cohort Size: </a:t>
            </a:r>
            <a:r>
              <a:rPr sz="850">
                <a:solidFill>
                  <a:srgbClr val="0F172A"/>
                </a:solidFill>
              </a:rPr>
              <a:t>13 Students (14.8% of class)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F59E0B"/>
                </a:solidFill>
              </a:rPr>
              <a:t>• Trigger Condition 1: </a:t>
            </a:r>
            <a:r>
              <a:rPr sz="850">
                <a:solidFill>
                  <a:srgbClr val="0F172A"/>
                </a:solidFill>
              </a:rPr>
              <a:t>Internal Assessment theory marks &lt; 50% (&lt;10/20).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F59E0B"/>
                </a:solidFill>
              </a:rPr>
              <a:t>• Trigger Condition 2: </a:t>
            </a:r>
            <a:r>
              <a:rPr sz="850">
                <a:solidFill>
                  <a:srgbClr val="0F172A"/>
                </a:solidFill>
              </a:rPr>
              <a:t>Ext-Int mark differential &gt; 15 percentage points.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F59E0B"/>
                </a:solidFill>
              </a:rPr>
              <a:t>• Score Envelope: </a:t>
            </a:r>
            <a:r>
              <a:rPr sz="850">
                <a:solidFill>
                  <a:srgbClr val="0F172A"/>
                </a:solidFill>
              </a:rPr>
              <a:t>Aggregate 40% to 55%; 1-3 theory backlogs.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F59E0B"/>
                </a:solidFill>
              </a:rPr>
              <a:t>• Primary Threat: </a:t>
            </a:r>
            <a:r>
              <a:rPr sz="850">
                <a:solidFill>
                  <a:srgbClr val="0F172A"/>
                </a:solidFill>
              </a:rPr>
              <a:t>Failure in OS and DBMS written end-semester papers.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F59E0B"/>
                </a:solidFill>
              </a:rPr>
              <a:t>• Mandatory Protocol: </a:t>
            </a:r>
            <a:r>
              <a:rPr sz="850">
                <a:solidFill>
                  <a:srgbClr val="0F172A"/>
                </a:solidFill>
              </a:rPr>
              <a:t>Bi-weekly problem-solving clinics, past question paper drill sessions, peer study group assignment.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55448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73736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MONITORING TIER (Tier 3)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2563EB"/>
                </a:solidFill>
              </a:rPr>
              <a:t>• Cohort Size: </a:t>
            </a:r>
            <a:r>
              <a:rPr sz="850">
                <a:solidFill>
                  <a:srgbClr val="0F172A"/>
                </a:solidFill>
              </a:rPr>
              <a:t>12 Students (borderline Cluster 1)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2563EB"/>
                </a:solidFill>
              </a:rPr>
              <a:t>• Trigger Condition 1: </a:t>
            </a:r>
            <a:r>
              <a:rPr sz="850">
                <a:solidFill>
                  <a:srgbClr val="0F172A"/>
                </a:solidFill>
              </a:rPr>
              <a:t>Passed theory with lowest passing grade ('D').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2563EB"/>
                </a:solidFill>
              </a:rPr>
              <a:t>• Trigger Condition 2: </a:t>
            </a:r>
            <a:r>
              <a:rPr sz="850">
                <a:solidFill>
                  <a:srgbClr val="0F172A"/>
                </a:solidFill>
              </a:rPr>
              <a:t>High inter-subject variance (StdDev &gt; 14).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2563EB"/>
                </a:solidFill>
              </a:rPr>
              <a:t>• Score Envelope: </a:t>
            </a:r>
            <a:r>
              <a:rPr sz="850">
                <a:solidFill>
                  <a:srgbClr val="0F172A"/>
                </a:solidFill>
              </a:rPr>
              <a:t>Aggregate 55% to 62%; SGPI 5.5 to 6.5.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2563EB"/>
                </a:solidFill>
              </a:rPr>
              <a:t>• Primary Threat: </a:t>
            </a:r>
            <a:r>
              <a:rPr sz="850">
                <a:solidFill>
                  <a:srgbClr val="0F172A"/>
                </a:solidFill>
              </a:rPr>
              <a:t>Drifting into backlog status as Semester V course difficulty escalates.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2563EB"/>
                </a:solidFill>
              </a:rPr>
              <a:t>• Mandatory Protocol: </a:t>
            </a:r>
            <a:r>
              <a:rPr sz="850">
                <a:solidFill>
                  <a:srgbClr val="0F172A"/>
                </a:solidFill>
              </a:rPr>
              <a:t>Algorithmic foundation coaching, mock mid-semester tests, targeted doubt-solving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ACTIONABLE ROADMAP</a:t>
            </a:r>
          </a:p>
          <a:p>
            <a:pPr>
              <a:spcAft>
                <a:spcPts val="300"/>
              </a:spcAft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Tiered Pedagogical Action Plan for Semester V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Translating data insights into operational institutional interventions for curriculum heads and mentors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  <a:latin typeface="Segoe UI"/>
              </a:defRPr>
            </a:pPr>
            <a:r>
              <a:t>TIER 1: HIGH ACHIEVERS &amp; LEADERS (CLUSTER 0)  —  Curricular Enrichment &amp; Capstone Acceleration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Facilitate research publication co-authorship, advanced machine learning research projects, sponsored hackathons, and tier-1 industry internship placements. Deploy top students as peer mentors.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0720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  <a:latin typeface="Segoe UI"/>
              </a:defRPr>
            </a:pPr>
            <a:r>
              <a:t>TIER 2: SOLID PERFORMERS (CLUSTER 1)  —  Theory Mastery &amp; Distinction Push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Implement advanced problem-solving workshops in distributed systems and algorithms. Focus on improving exam writing technique to elevate borderline B/B+ students into distinction tier.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95020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59E0B"/>
                </a:solidFill>
                <a:latin typeface="Segoe UI"/>
              </a:defRPr>
            </a:pPr>
            <a:r>
              <a:t>TIER 3: DEVELOPING COHORT (CLUSTER 2)  —  Remedial Theory Bridge &amp; Hands-On Theory Linkage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Leverage their strong practical intuition (64.3% lab) to explain written theory concepts. Introduce continuous weekly formative quizzes rather than high-stakes term-end examinations.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093208"/>
            <a:ext cx="10271455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EF4444"/>
                </a:solidFill>
                <a:latin typeface="Segoe UI"/>
              </a:defRPr>
            </a:pPr>
            <a:r>
              <a:t>TIER 4: CRITICAL SUPPORT COHORT (CLUSTER 3)  —  Intensive Rehabilitation &amp; Mentorship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Establish individual faculty mentorship, attendance monitoring triggers, foundational prerequisite review courses, and coordinated psychological/academic guidance.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05840"/>
            <a:ext cx="963137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STRATEGIC SYNTHESIS &amp; INSTITUTIONAL ROADMAP</a:t>
            </a:r>
          </a:p>
          <a:p>
            <a:pPr>
              <a:spcAft>
                <a:spcPts val="1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Transforming Academic Data into Actionable Institutional Intelligence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★ High Foundational Competence: </a:t>
            </a:r>
            <a:r>
              <a:rPr sz="1000">
                <a:solidFill>
                  <a:srgbClr val="FFFFFF"/>
                </a:solidFill>
              </a:rPr>
              <a:t>Over 76.1% of the Semester IV AI &amp; DS cohort demonstrates solid or outstanding capability across technical disciplines.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★ Identified Bottleneck: </a:t>
            </a:r>
            <a:r>
              <a:rPr sz="1000">
                <a:solidFill>
                  <a:srgbClr val="FFFFFF"/>
                </a:solidFill>
              </a:rPr>
              <a:t>Written theory external examinations account for 100% of failed course units, while laboratory pass rates exceed 98%.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★ Data-Driven Personas: </a:t>
            </a:r>
            <a:r>
              <a:rPr sz="1000">
                <a:solidFill>
                  <a:srgbClr val="FFFFFF"/>
                </a:solidFill>
              </a:rPr>
              <a:t>Unsupervised K-Means clustering (K=4) effectively replaces blunt GPA filtering with 4 actionable competency archetypes.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★ Proactive Semester V Strategy: </a:t>
            </a:r>
            <a:r>
              <a:rPr sz="1000">
                <a:solidFill>
                  <a:srgbClr val="FFFFFF"/>
                </a:solidFill>
              </a:rPr>
              <a:t>Early detection of theory-practical score disparities ensures zero-surprise academic performance and maximum cohort graduation rates.</a:t>
            </a:r>
          </a:p>
          <a:p>
            <a:pPr>
              <a:spcBef>
                <a:spcPts val="1600"/>
              </a:spcBef>
              <a:defRPr sz="1300" b="1">
                <a:solidFill>
                  <a:srgbClr val="0EA5E9"/>
                </a:solidFill>
                <a:latin typeface="Segoe UI"/>
              </a:defRPr>
            </a:pPr>
            <a:r>
              <a:t>Thank You  |  Open for Questions &amp; Strategic Discussion</a:t>
            </a:r>
            <a:br/>
            <a:r>
              <a:t>Department of Artificial Intelligence &amp;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Department of Artificial Intelligence &amp; Data Science  |  Semester IV Academic Result Analysis &amp; K-Means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