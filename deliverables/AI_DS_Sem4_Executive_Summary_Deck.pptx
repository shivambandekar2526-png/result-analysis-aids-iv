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569e9e54c42d7" /><Relationship Type="http://schemas.openxmlformats.org/officeDocument/2006/relationships/extended-properties" Target="/docProps/app.xml" Id="Rd6bb72d4c73b4828" /><Relationship Type="http://schemas.openxmlformats.org/officeDocument/2006/relationships/officeDocument" Target="/ppt/presentation.xml" Id="R517dc8dd8bee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a94b65139c426a"/>
  </p:sldMasterIdLst>
  <p:notesMasterIdLst>
    <p:notesMasterId xmlns:r="http://schemas.openxmlformats.org/officeDocument/2006/relationships" r:id="Rf1b62c9387444fe3"/>
  </p:notesMasterIdLst>
  <p:sldIdLst>
    <p:sldId xmlns:r="http://schemas.openxmlformats.org/officeDocument/2006/relationships" id="256" r:id="R01a7c4652de54885"/>
    <p:sldId xmlns:r="http://schemas.openxmlformats.org/officeDocument/2006/relationships" id="257" r:id="Ra97369a538d3479b"/>
    <p:sldId xmlns:r="http://schemas.openxmlformats.org/officeDocument/2006/relationships" id="258" r:id="Rc524c14425724b7e"/>
    <p:sldId xmlns:r="http://schemas.openxmlformats.org/officeDocument/2006/relationships" id="259" r:id="R7c07aa7fff244355"/>
    <p:sldId xmlns:r="http://schemas.openxmlformats.org/officeDocument/2006/relationships" id="260" r:id="R2ecbdc50bff3483f"/>
    <p:sldId xmlns:r="http://schemas.openxmlformats.org/officeDocument/2006/relationships" id="261" r:id="R2914130867774bfc"/>
    <p:sldId xmlns:r="http://schemas.openxmlformats.org/officeDocument/2006/relationships" id="262" r:id="Rbbd9ebe8004044eb"/>
    <p:sldId xmlns:r="http://schemas.openxmlformats.org/officeDocument/2006/relationships" id="263" r:id="R7417363b499242ea"/>
    <p:sldId xmlns:r="http://schemas.openxmlformats.org/officeDocument/2006/relationships" id="264" r:id="R7e5dadb439ca4ec7"/>
    <p:sldId xmlns:r="http://schemas.openxmlformats.org/officeDocument/2006/relationships" id="265" r:id="Rf54ef3230abc45f1"/>
    <p:sldId xmlns:r="http://schemas.openxmlformats.org/officeDocument/2006/relationships" id="266" r:id="R14df0b58991d441e"/>
    <p:sldId xmlns:r="http://schemas.openxmlformats.org/officeDocument/2006/relationships" id="267" r:id="R6a4792be124e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fe16afa4a47aa" /><Relationship Type="http://schemas.openxmlformats.org/officeDocument/2006/relationships/slideMaster" Target="/ppt/slideMasters/slideMaster1.xml" Id="R06a94b65139c426a" /><Relationship Type="http://schemas.openxmlformats.org/officeDocument/2006/relationships/notesMaster" Target="/ppt/notesMasters/notesMaster1.xml" Id="Rf1b62c9387444fe3" /><Relationship Type="http://schemas.openxmlformats.org/officeDocument/2006/relationships/presProps" Target="/ppt/presProps.xml" Id="R95a2f6419af14515" /><Relationship Type="http://schemas.openxmlformats.org/officeDocument/2006/relationships/tableStyles" Target="/ppt/tableStyles.xml" Id="R75e2d1752b654d16" /><Relationship Type="http://schemas.openxmlformats.org/officeDocument/2006/relationships/slide" Target="/ppt/slides/slide1.xml" Id="R01a7c4652de54885" /><Relationship Type="http://schemas.openxmlformats.org/officeDocument/2006/relationships/slide" Target="/ppt/slides/slide2.xml" Id="Ra97369a538d3479b" /><Relationship Type="http://schemas.openxmlformats.org/officeDocument/2006/relationships/slide" Target="/ppt/slides/slide3.xml" Id="Rc524c14425724b7e" /><Relationship Type="http://schemas.openxmlformats.org/officeDocument/2006/relationships/slide" Target="/ppt/slides/slide4.xml" Id="R7c07aa7fff244355" /><Relationship Type="http://schemas.openxmlformats.org/officeDocument/2006/relationships/slide" Target="/ppt/slides/slide5.xml" Id="R2ecbdc50bff3483f" /><Relationship Type="http://schemas.openxmlformats.org/officeDocument/2006/relationships/slide" Target="/ppt/slides/slide6.xml" Id="R2914130867774bfc" /><Relationship Type="http://schemas.openxmlformats.org/officeDocument/2006/relationships/slide" Target="/ppt/slides/slide7.xml" Id="Rbbd9ebe8004044eb" /><Relationship Type="http://schemas.openxmlformats.org/officeDocument/2006/relationships/slide" Target="/ppt/slides/slide8.xml" Id="R7417363b499242ea" /><Relationship Type="http://schemas.openxmlformats.org/officeDocument/2006/relationships/slide" Target="/ppt/slides/slide9.xml" Id="R7e5dadb439ca4ec7" /><Relationship Type="http://schemas.openxmlformats.org/officeDocument/2006/relationships/slide" Target="/ppt/slides/slide10.xml" Id="Rf54ef3230abc45f1" /><Relationship Type="http://schemas.openxmlformats.org/officeDocument/2006/relationships/slide" Target="/ppt/slides/slide11.xml" Id="R14df0b58991d441e" /><Relationship Type="http://schemas.openxmlformats.org/officeDocument/2006/relationships/slide" Target="/ppt/slides/slide12.xml" Id="R6a4792be124e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bb7e23b92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73e80b66f0432a" /><Relationship Type="http://schemas.openxmlformats.org/officeDocument/2006/relationships/notesMaster" Target="/ppt/notesMasters/notesMaster1.xml" Id="Rd03c2dac635a4b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04644603f04be1" /><Relationship Type="http://schemas.openxmlformats.org/officeDocument/2006/relationships/notesMaster" Target="/ppt/notesMasters/notesMaster1.xml" Id="Re244263d29b144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e5a179d04b4c1f" /><Relationship Type="http://schemas.openxmlformats.org/officeDocument/2006/relationships/notesMaster" Target="/ppt/notesMasters/notesMaster1.xml" Id="R22b6a3effad541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1ae746aef45f3" /><Relationship Type="http://schemas.openxmlformats.org/officeDocument/2006/relationships/notesMaster" Target="/ppt/notesMasters/notesMaster1.xml" Id="R269250ae20fc44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a9b2be401342f6" /><Relationship Type="http://schemas.openxmlformats.org/officeDocument/2006/relationships/notesMaster" Target="/ppt/notesMasters/notesMaster1.xml" Id="Rd23ee059fd8342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be892c8a2946ca" /><Relationship Type="http://schemas.openxmlformats.org/officeDocument/2006/relationships/notesMaster" Target="/ppt/notesMasters/notesMaster1.xml" Id="R283a4943958b4d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f0622541c94f1d" /><Relationship Type="http://schemas.openxmlformats.org/officeDocument/2006/relationships/notesMaster" Target="/ppt/notesMasters/notesMaster1.xml" Id="Rdd88e123af0147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1559f8b38e44a9" /><Relationship Type="http://schemas.openxmlformats.org/officeDocument/2006/relationships/notesMaster" Target="/ppt/notesMasters/notesMaster1.xml" Id="R18988da61bf447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2c4be840744313" /><Relationship Type="http://schemas.openxmlformats.org/officeDocument/2006/relationships/notesMaster" Target="/ppt/notesMasters/notesMaster1.xml" Id="R11269f8be50a47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8352ef55504b47" /><Relationship Type="http://schemas.openxmlformats.org/officeDocument/2006/relationships/notesMaster" Target="/ppt/notesMasters/notesMaster1.xml" Id="R521df89beefa44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d11045762c4267" /><Relationship Type="http://schemas.openxmlformats.org/officeDocument/2006/relationships/notesMaster" Target="/ppt/notesMasters/notesMaster1.xml" Id="Rbf148bfea5384d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d693c80e5f4e08" /><Relationship Type="http://schemas.openxmlformats.org/officeDocument/2006/relationships/notesMaster" Target="/ppt/notesMasters/notesMaster1.xml" Id="Rf93a6429fb60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notebooks/01_exploratory_data_analysis.ipynb; data/processed/AI_DS_SEM4_MASTER_RESULTS.csv; clustering outputs in data/processed and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01_exploratory_data_analysis.ipynb cells 7, 13, 17, 25, 31-32, 65, 68; V2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01_exploratory_data_analysis.ipynb cells 4, 7-18;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01_exploratory_data_analysis.ipynb cells 24-25, 28, 31-33, 44-47.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notebooks/01_exploratory_data_analysis.ipynb cells 31-37. Charts are notebook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01_exploratory_data_analysis.ipynb cells 63-68; calculations from data/processed/AI_DS_SEM4_MASTER_RESULTS.csv. Course grades/means computed from source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01_exploratory_data_analysis.ipynb cells 81-94.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src/ml/clustering.py; data/processed/AI_DS_SEM4_CLUSTERED_STUDENTS.csv.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reports/figures/clustering_v1/kmeans_07_pca_2d.png and kmeans_06_theory_vs_lab.png; src/ml/clustering.py.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scripts/student_clustering_v2.py; reports/summaries/clustering_v2_summary.txt; figures clustering_v2_elbow.png and clustering_v2_silhouette.png.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reports/summaries/clustering_v2_summary.txt; reports/figures/clustering_v2/clustering_v2_radar.png.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and V2 clustering outputs. Recommendations are analytical interpretations based on observed cohort profiles, not causal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8ad084b274b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b71913c7f4209" /><Relationship Type="http://schemas.openxmlformats.org/officeDocument/2006/relationships/slideLayout" Target="/ppt/slideLayouts/slideLayout1.xml" Id="R1fde9b7ac84441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de9b7ac84441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75396e398416d" /><Relationship Type="http://schemas.openxmlformats.org/officeDocument/2006/relationships/notesSlide" Target="/ppt/notesSlides/notesSlide1.xml" Id="R6f9c6a3cb4fd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cef31b7c9488f" /><Relationship Type="http://schemas.openxmlformats.org/officeDocument/2006/relationships/notesSlide" Target="/ppt/notesSlides/notesSlide2.xml" Id="R917b9adc2eca47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80e0530814574" /><Relationship Type="http://schemas.openxmlformats.org/officeDocument/2006/relationships/notesSlide" Target="/ppt/notesSlides/notesSlide3.xml" Id="R091380f04e5e4a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ad72bf4134262" /><Relationship Type="http://schemas.openxmlformats.org/officeDocument/2006/relationships/chart" Target="/ppt/slides/charts/chart1.xml" Id="Re5b6d1eec36a4a12" /><Relationship Type="http://schemas.openxmlformats.org/officeDocument/2006/relationships/notesSlide" Target="/ppt/notesSlides/notesSlide4.xml" Id="R9a2b2ca2fca8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8463bb0884f56" /><Relationship Type="http://schemas.openxmlformats.org/officeDocument/2006/relationships/image" Target="/ppt/media/image.png" Id="R5a1950733ff346a1" /><Relationship Type="http://schemas.openxmlformats.org/officeDocument/2006/relationships/image" Target="/ppt/media/image2.png" Id="R998083f5f93b42ee" /><Relationship Type="http://schemas.openxmlformats.org/officeDocument/2006/relationships/notesSlide" Target="/ppt/notesSlides/notesSlide5.xml" Id="R801de3ecb9c14a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a0c9670444473" /><Relationship Type="http://schemas.openxmlformats.org/officeDocument/2006/relationships/chart" Target="/ppt/slides/charts/chart2.xml" Id="R1b52e588da2d4511" /><Relationship Type="http://schemas.openxmlformats.org/officeDocument/2006/relationships/notesSlide" Target="/ppt/notesSlides/notesSlide6.xml" Id="Re4a92ae0a0cc41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9bcdbc5994dea" /><Relationship Type="http://schemas.openxmlformats.org/officeDocument/2006/relationships/image" Target="/ppt/media/image3.png" Id="R17faac02b3af410e" /><Relationship Type="http://schemas.openxmlformats.org/officeDocument/2006/relationships/notesSlide" Target="/ppt/notesSlides/notesSlide7.xml" Id="R263f6f52e7c744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96b5c1b82498a" /><Relationship Type="http://schemas.openxmlformats.org/officeDocument/2006/relationships/notesSlide" Target="/ppt/notesSlides/notesSlide8.xml" Id="R3541061839ab4b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982538c7347e1" /><Relationship Type="http://schemas.openxmlformats.org/officeDocument/2006/relationships/image" Target="/ppt/media/image4.png" Id="R142e6873b93946c7" /><Relationship Type="http://schemas.openxmlformats.org/officeDocument/2006/relationships/image" Target="/ppt/media/image5.png" Id="R298efa246f234d29" /><Relationship Type="http://schemas.openxmlformats.org/officeDocument/2006/relationships/notesSlide" Target="/ppt/notesSlides/notesSlide9.xml" Id="Rde4140404e464f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7799b46ff48d7" /><Relationship Type="http://schemas.openxmlformats.org/officeDocument/2006/relationships/image" Target="/ppt/media/image6.png" Id="R73960c1c9aab4a49" /><Relationship Type="http://schemas.openxmlformats.org/officeDocument/2006/relationships/image" Target="/ppt/media/image7.png" Id="R5dede4c634444c96" /><Relationship Type="http://schemas.openxmlformats.org/officeDocument/2006/relationships/notesSlide" Target="/ppt/notesSlides/notesSlide10.xml" Id="R3d813e80c87c49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0705c643a4023" /><Relationship Type="http://schemas.openxmlformats.org/officeDocument/2006/relationships/image" Target="/ppt/media/image8.png" Id="R24287ef11e3a490f" /><Relationship Type="http://schemas.openxmlformats.org/officeDocument/2006/relationships/notesSlide" Target="/ppt/notesSlides/notesSlide11.xml" Id="R6de2962214bf4d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786dc115a4dc4" /><Relationship Type="http://schemas.openxmlformats.org/officeDocument/2006/relationships/notesSlide" Target="/ppt/notesSlides/notesSlide12.xml" Id="Rc18669fb103b491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Students</c:v>
          </c:tx>
          <c:dPt>
            <c:idx val="0"/>
            <c:spPr>
              <a:solidFill xmlns:a="http://schemas.openxmlformats.org/drawingml/2006/main">
                <a:srgbClr val="2F855A"/>
              </a:solidFill>
            </c:spPr>
          </c:dPt>
          <c:dPt>
            <c:idx val="1"/>
            <c:spPr>
              <a:solidFill xmlns:a="http://schemas.openxmlformats.org/drawingml/2006/main">
                <a:srgbClr val="D64545"/>
              </a:solidFill>
            </c:spPr>
          </c:dPt>
          <c:dPt>
            <c:idx val="2"/>
            <c:spPr>
              <a:solidFill xmlns:a="http://schemas.openxmlformats.org/drawingml/2006/main">
                <a:srgbClr val="E69A2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Successful</c:v>
                </c:pt>
                <c:pt idx="1">
                  <c:v>Unsuccessful</c:v>
                </c:pt>
                <c:pt idx="2">
                  <c:v>Absent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60</c:v>
                </c:pt>
                <c:pt idx="1">
                  <c:v>27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holeSize val="63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43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Correlation with total</c:v>
          </c:tx>
          <c:spPr>
            <a:solidFill xmlns:a="http://schemas.openxmlformats.org/drawingml/2006/main">
              <a:srgbClr val="1F6FEB"/>
            </a:solidFill>
          </c:spPr>
          <c:cat>
            <c:strRef>
              <c:f>'Chart Data'!$A$2:$A$6</c:f>
              <c:strCache>
                <c:ptCount val="5"/>
                <c:pt idx="0">
                  <c:v>DBMS</c:v>
                </c:pt>
                <c:pt idx="1">
                  <c:v>OS</c:v>
                </c:pt>
                <c:pt idx="2">
                  <c:v>FTS</c:v>
                </c:pt>
                <c:pt idx="3">
                  <c:v>CT</c:v>
                </c:pt>
                <c:pt idx="4">
                  <c:v>OE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0.896</c:v>
                </c:pt>
                <c:pt idx="1">
                  <c:v>0.875</c:v>
                </c:pt>
                <c:pt idx="2">
                  <c:v>0.858</c:v>
                </c:pt>
                <c:pt idx="3">
                  <c:v>0.857</c:v>
                </c:pt>
                <c:pt idx="4">
                  <c:v>0.733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9DC53-8891-43CF-A156-0406E981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417F9-3A1A-4070-970A-A17ED1F7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Academic Result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D5CC0-6A37-49A8-B2C1-9DFA98FB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AI &amp; Data Science, Semester 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01F8A-C247-4D7C-B393-A93E914F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CC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CCDC"/>
                </a:solidFill>
                <a:latin typeface="Aptos"/>
                <a:ea typeface="Aptos"/>
                <a:cs typeface="Aptos"/>
              </a:rPr>
              <a:t>Exploratory analysis, subject diagnostics, and K-means student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2E325-C3AA-42E2-9071-89811CE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614C2-4927-4271-8DD9-A0605F5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88 students    11 courses    113 source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FA433-528D-4DF7-B261-9AA6867D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Prepared from the validated master results dataset and analytical notebooks</a:t>
            </a:r>
          </a:p>
        </p:txBody>
      </p:sp>
    </p:spTree>
    <p:extLst>
      <p:ext uri="{BB962C8B-B14F-4D97-AF65-F5344CB8AC3E}">
        <p14:creationId xmlns:p14="http://schemas.microsoft.com/office/powerpoint/2010/main" val="708097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356AE-9C3E-4E32-9B87-450D3DA7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Executive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FAAE7-B146-4B25-B361-EE168FD1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cohort shows a strong upper segment alongside a material academic-support population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7B49E-1FF0-4B57-8D8D-3A78B6B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264B2-F11B-4732-ABE0-2EBAE32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15ED5-1F03-46DF-98FC-A3BE5D07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Students analysed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F9311-9923-46B3-895D-360B2562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68.2%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68098-51FC-4629-A06B-339D7F5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Successful result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87F48-6F7B-445A-A648-BC786D58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62.4%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8E15C-BA10-4F26-846B-7F533801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AC777-52A5-479A-A227-ADCC7833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B46C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B46C1"/>
                </a:solidFill>
                <a:latin typeface="Aptos"/>
                <a:ea typeface="Aptos"/>
                <a:cs typeface="Aptos"/>
              </a:rPr>
              <a:t>7.15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DDB7B-D4A5-4F8F-90FC-9DED5192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Median SGPI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27093-A0C0-4266-BEF8-E4D2881A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54BB5-4E89-4F42-9999-2A708C28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analysis shows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BC686-0E72-45DD-A583-161B66D1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Results are complete and unique across all 88 students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DBMS marks show the strongest association with overall total (r = 0.896)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 separates 21 students into support and critical-intervention groups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clustering confirms a practical-strong, theory-deficit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E50A6-0492-489A-9483-EE736D8A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2053A-4AC6-4E99-9C5C-A45A55ED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Prioritize theory reinforcement for developing learners, intensive recovery plans for the critical group, and enrichment opportunities for high achievers.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4A261-D25F-453D-A9E7-8536383E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927D1-D4E4-435F-8601-5C740B6C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1447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9F683-F0D7-48CE-A953-700BF03D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foundation and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94A73-306A-46F7-8E55-F95AD1AD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clean academic record supports reliable descriptive analysis and 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B9D1F-E55C-4C68-89DC-73E975F2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6191250" cy="2952750"/>
        </p:xfrm>
        <a:graphic xmlns:a="http://schemas.openxmlformats.org/drawingml/2006/main">
          <a:graphicData uri="http://schemas.openxmlformats.org/drawingml/2006/table">
            <a:tbl>
              <a:tblPr firstCol="1" bandRow="1"/>
              <a:tblGrid>
                <a:gridCol w="3095625"/>
                <a:gridCol w="3095625"/>
              </a:tblGrid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AI_DS_SEM4_MASTER_RESULTS.csv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Coverage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88 students × 113 columns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Courses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11 assessed courses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Completeness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 missing values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Uniqueness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 duplicate students or rows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3A002-13D6-461F-93D1-61F6662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Analytical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E8A84-7CF1-4675-B1D6-C632F94B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476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Cohort composition and result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Percentage and SGPI distributions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Course-level averages, grades, and correlations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versus lab performance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Two K-means segmentation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C2223-9049-4C9D-83AA-8FBB720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Caveat: The dataset represents one semester and one cohort. Clusters are descriptive groups, not individual predictions.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5CFCA-85DC-4E93-BA69-3A5E5AAC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F6DF6-256C-4A95-BAF0-4F50CAA8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9856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2F89E-1976-4C48-AF26-98D1EF8D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2314B-BBBA-4A0E-989D-4B52805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60 students succeeded, while 28 need follow-up or remediation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F97C-C637-4931-912C-4B7F5F5C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4476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b6d1eec36a4a1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4633F-8B29-499A-AA12-4CFE46E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Distribution highlights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1ABFF-917D-4F5D-AE00-9695D9C9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174BC-9796-4E37-A165-A7A7808F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483.9 / 775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A91B7-7D9F-460A-AF3D-B05BC61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Median percentage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D5BC-9038-414F-A597-BA9E11DF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66.91%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F208E-4C02-484E-A97A-5387C156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FA907-41BD-4E24-94E3-8055AE5B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46C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B46C1"/>
                </a:solidFill>
                <a:latin typeface="Aptos"/>
                <a:ea typeface="Aptos"/>
                <a:cs typeface="Aptos"/>
              </a:rPr>
              <a:t>1.29% to 85.55%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24D77-061C-49F7-8426-3208013F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SGPI distribution includes zeros for unsuccessful and absent outcomes, so median performance better describes the successful core than the overall mean.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91159-ACBD-47F3-9702-3565CD90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12C26-51D5-4F13-951B-A67AFFDC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2462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B345D-51C2-4C63-BE4E-5F1324FC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Performance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AC5EE-A933-4149-B14C-3FB498EA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cohort concentrates in the mid-to-high range, with a distinct lower-performing 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5865D-E71C-4DF0-A545-137A219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950733ff346a1"/>
          <a:stretch xmlns:a="http://schemas.openxmlformats.org/drawingml/2006/main"/>
        </p:blipFill>
        <p:spPr>
          <a:xfrm xmlns:a="http://schemas.openxmlformats.org/drawingml/2006/main">
            <a:off x="523875" y="1935856"/>
            <a:ext cx="5381625" cy="2652914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083f5f93b42ee"/>
          <a:stretch xmlns:a="http://schemas.openxmlformats.org/drawingml/2006/main"/>
        </p:blipFill>
        <p:spPr>
          <a:xfrm xmlns:a="http://schemas.openxmlformats.org/drawingml/2006/main">
            <a:off x="6286500" y="1843963"/>
            <a:ext cx="5381625" cy="283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29145-9E4E-4089-B2F7-6E13ACE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Percentage distribution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23432-9EB3-437F-B88A-AAB125BD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SGPI 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02706-F8FC-4062-B14D-29EE8A8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lower tail reflects the 27 unsuccessful outcomes and one absence. These students should not be treated as a homogeneous group: the V2 model separates developing learners from severe underperformance.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B07A7-4963-477D-BF48-13683023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4B38A-39C9-4B3B-AD47-06FFB66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8503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03CA-8A96-4E73-9CF2-56ECE5FB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Subject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4BA6D-06F0-476D-9EBD-65509AD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DBMS aligns most closely with total marks, while theory performance needs the closest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527F3-4B35-4751-9E13-F2A85CEC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52e588da2d451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BB7D1-71A4-4BE5-B1D6-482BB8EE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Correlation with overall total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0" y="1809750"/>
          <a:ext xmlns:a="http://schemas.openxmlformats.org/drawingml/2006/main" cx="3905250" cy="2809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01750"/>
                <a:gridCol w="1301750"/>
                <a:gridCol w="1301750"/>
              </a:tblGrid>
              <a:tr h="468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Course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 grades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DBMS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59.1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57.2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16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FTS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56.1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17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58.0 / 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91440" marR="91440" marT="45720" marB="45720"/>
                </a:tc>
              </a:tr>
              <a:tr h="468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DBMS Lab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37.6 /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92766-5FD9-4C1C-A193-9BF0A5D1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DBMS has the highest observed correlation with overall total (r = 0.896). The course-level view points to broad theory reinforcement rather than a single-course intervention.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86323-4D5C-41F6-9203-4E37F90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72BA5-46CD-416C-9B35-8A611175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9946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D6120-A258-42FA-A0CE-52043EEA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and lab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5DFD2-0D28-4395-A120-6ECECCAE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Average theory performance lags lab performance when measured against their different marking scales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BEE40-B91F-4F0B-AFB0-4BE6FC0D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aac02b3af410e"/>
          <a:stretch xmlns:a="http://schemas.openxmlformats.org/drawingml/2006/main"/>
        </p:blipFill>
        <p:spPr>
          <a:xfrm xmlns:a="http://schemas.openxmlformats.org/drawingml/2006/main">
            <a:off x="571500" y="1628398"/>
            <a:ext cx="6477000" cy="35535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56D8B-432B-47FB-89ED-1A62CCF0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Cohort averages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BA3DA-C4E6-4617-85BA-D4EFE42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55.6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449A6-C077-4CDA-8FCC-53104E34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574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theory score</a:t>
            </a:r>
          </a:p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(out of 100)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2E904-45F6-4CF3-BBE6-F42011D2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34.4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DF955-EEE8-4CDF-A646-3C924479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57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Mean lab score</a:t>
            </a:r>
          </a:p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(out of 50)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5BAFB-5405-4EC0-BCE9-9A2C70E9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81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95256-BEEF-4B73-972A-E1544CE5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81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Practical marks are generally stronger. This pattern becomes central to the original K-means model, which identifies a practical-strong group with clear theory deficits.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F71C9-4A62-4287-831A-00CC465D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22168-AAA8-4CE1-8222-214FE00A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3396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16178-FF42-4A94-8EE0-4852BA0B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K-means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C681F-8225-4B3D-9D89-216F9053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compact model uses four performance signals to distinguish high achievement, theory deficit, and multi-subject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907F0-BDD0-445C-B690-76BCA182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AA9F9-FBA2-4467-92C3-104FDA4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626F7-7932-4E2F-A821-F81A7C04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average %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 average %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Failed subjects count</a:t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Overall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53150-21AA-44FB-8F50-166C4473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Three cluster profiles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476750" y="2047875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  <a:gridCol w="1666875"/>
                <a:gridCol w="1666875"/>
              </a:tblGrid>
              <a:tr h="5000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Profile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Students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 %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Pass rate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Academic Leaders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70.7%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96.8% pass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Practical-Strong / Theory-Deficit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50.5%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0% pass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At-Risk / Multi-Subject Deficit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25.2%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0% pass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7ED50-0E35-48E0-92A2-3A91156F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this model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C85FD-112E-456E-86D2-84DEFE81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It avoids treating a zero SGPI as a complete picture of competency. Students with practical strength but theory failures receive a distinct profile rather than being grouped with severe underperformance.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E373F-62B0-4117-A2E0-5B36D43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DEDA3-0A04-4B3E-8EA7-E474D642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089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E558D-05C0-4CCF-99C8-6700B82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69B1-0005-4DBC-B2F0-37614350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first model isolates a broad high-achiever group, a theory-deficit group, and a small critical-risk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0FDF9-7A0C-4555-BAB8-0B36EE6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e6873b93946c7"/>
          <a:stretch xmlns:a="http://schemas.openxmlformats.org/drawingml/2006/main"/>
        </p:blipFill>
        <p:spPr>
          <a:xfrm xmlns:a="http://schemas.openxmlformats.org/drawingml/2006/main">
            <a:off x="608228" y="1428750"/>
            <a:ext cx="5165294" cy="38576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efa246f234d29"/>
          <a:stretch xmlns:a="http://schemas.openxmlformats.org/drawingml/2006/main"/>
        </p:blipFill>
        <p:spPr>
          <a:xfrm xmlns:a="http://schemas.openxmlformats.org/drawingml/2006/main">
            <a:off x="6372669" y="1428750"/>
            <a:ext cx="5161662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BCF05-4D01-4F88-8485-381DF3FE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PCA 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DA119-C432-4212-91B7-F29A4BEE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29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 versus lab by 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6E6DC-93CD-4D58-BBE8-53E3EA5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practical-strong segment provides the key operational insight: academic support should target theory recovery without assuming weak lab competency.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6DC57-65B0-4CF3-B74B-2CB7F405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E5844-3D38-4832-A6E0-C9922D7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7551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6A104-20C0-4509-99F6-8B9731A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V2: competency-based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FF628-B0A4-435F-9635-FAD02646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V2 uses 17 features to separate performance level, learning mode, consistency, and assessment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CA312-D612-41A1-944E-FB9CF2A5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A2FFE-3FAE-46EA-B216-F8791703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08C03-0539-4FD5-BAFD-878F508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11 course-level percentages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Theory, practical, and coursework averages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Subject-level consistency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External–internal assessment gap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Cumulative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271B6-F2EB-49FE-94E7-035F260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2C68B-EBCE-45DC-AFDE-3B72500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K =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8489E-D2D1-46F9-8CBC-4B7D74FC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Selected 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9C05B-167C-4C17-A2BE-1C3F389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Silhouette = 0.2471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4B884-621C-448C-9205-0F8939F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Separation is modest, so use personas as a planning lens rather than rigid labels.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60c1c9aab4a49"/>
          <a:stretch xmlns:a="http://schemas.openxmlformats.org/drawingml/2006/main"/>
        </p:blipFill>
        <p:spPr>
          <a:xfrm xmlns:a="http://schemas.openxmlformats.org/drawingml/2006/main">
            <a:off x="8191500" y="1738313"/>
            <a:ext cx="3048000" cy="15240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de4c634444c96"/>
          <a:stretch xmlns:a="http://schemas.openxmlformats.org/drawingml/2006/main"/>
        </p:blipFill>
        <p:spPr>
          <a:xfrm xmlns:a="http://schemas.openxmlformats.org/drawingml/2006/main">
            <a:off x="8191500" y="3881438"/>
            <a:ext cx="3048000" cy="1524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67033-DD23-4138-9797-65FAE50E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1CBA3-F11A-4272-ADB5-58715D24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777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66FA9-3988-4BF0-BE9E-0B4716CD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K-means V2 personas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0C984-872A-4DFF-9983-06B25BB9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V2 splits the original middle-to-lower segment into a focused support group and a critical intervention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00301-298B-4903-A17F-4992B18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66675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  <a:gridCol w="1333500"/>
              </a:tblGrid>
              <a:tr h="5905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Persona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Students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 %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Theory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Practical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High achievers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75.86%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73.2%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80.5%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Solid performers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64.08%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73.6%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Developing support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47.01%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39.5%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64.3%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Critical intervention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25.19%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31.7%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7.9%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87ef11e3a490f"/>
          <a:stretch xmlns:a="http://schemas.openxmlformats.org/drawingml/2006/main"/>
        </p:blipFill>
        <p:spPr>
          <a:xfrm xmlns:a="http://schemas.openxmlformats.org/drawingml/2006/main">
            <a:off x="7667625" y="1700672"/>
            <a:ext cx="3619500" cy="28851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3B2D9-5BA2-4180-9AA7-81C91E9F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Planning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0AAD7-BA07-4D7A-8B6B-208A1FA0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13 developing learners retain practical strength and need theory reinforcement. The 8 critical learners need broader attendance, practical, and multi-subject recovery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AFF61-C7E0-476C-B472-0D51F28B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21F3A-8BAB-4EA0-A299-A8D2F2CD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1998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F5A20-92B9-4E5A-B24B-0879933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From segmentation to academic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A01D0-9314-4247-B2C0-C3C8B3A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Use V2 for differentiated planning, with the original model retained as a clear diagnostic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BF943-E78A-4582-9048-066DAF9C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7435F-C751-4B9F-ACCA-F4B8128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4AC7B-629E-4445-BFB5-395C9FC3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 groups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 derived indicators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Highlights practical strength versus theory deficit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Best for a simple risk and competency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DC462-1AB1-438F-BBDB-F5A82FFC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V2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A2A2C-28D2-43AA-8B63-86CE8260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 groups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17 competency and consistency features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Separates developing support from critical intervention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Best for targeted cohort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2D2AD-67A5-4E3A-AB8E-8905BB4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5A2FE-79C2-4EF8-BF2D-4DC7C5C7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Recommended academic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A3500-B46D-4AE7-A5E8-756A9793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High achievers (33)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293C1-4BDA-4520-B0B4-0ECDE9B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Enrichment, peer tutoring, advanced project opportunities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627CF-1368-492A-962E-F63936C5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Solid performers (34)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AC964-9CA0-420A-9EAA-AD41755E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Targeted theory practice to improve consistency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6A08F-F03A-44A3-BC49-62C227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Developing support (13)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9B832-576F-40D5-87F0-7B70DF7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Structured theory recovery with weekly checkpoints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DAEF1-3DC8-45BA-B977-8CE3CFFC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Critical intervention (8)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8479C-3947-4296-B747-9F0711D4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Individual remediation plan and attendance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FFB6D-FE59-4D8A-916C-F6281340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Next step: validate interventions with the next semester’s outcomes before using the segments operationally.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8AE63-F49F-4CE2-8560-621370E8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AI &amp; DS Semester IV: Academic Result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2070E-2EF5-4017-B992-E10E3F77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7388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2026-09-09T20:02:55.2670000Z</dcterms:created>
  <dcterms:modified xsi:type="dcterms:W3CDTF">2026-09-09T20:02:55.2670000Z</dcterms:modified>
</coreProperties>
</file>