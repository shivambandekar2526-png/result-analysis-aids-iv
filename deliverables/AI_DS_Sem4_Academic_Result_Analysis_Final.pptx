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8c9a64c81248d6" /><Relationship Type="http://schemas.openxmlformats.org/officeDocument/2006/relationships/extended-properties" Target="/docProps/app.xml" Id="R8c36eb98b9724efb" /><Relationship Type="http://schemas.openxmlformats.org/officeDocument/2006/relationships/officeDocument" Target="/ppt/presentation.xml" Id="Rf2f0e630802048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ce2db414394f6c"/>
  </p:sldMasterIdLst>
  <p:notesMasterIdLst>
    <p:notesMasterId xmlns:r="http://schemas.openxmlformats.org/officeDocument/2006/relationships" r:id="R7d422952b32c4da5"/>
  </p:notesMasterIdLst>
  <p:sldIdLst>
    <p:sldId xmlns:r="http://schemas.openxmlformats.org/officeDocument/2006/relationships" id="256" r:id="R1f06b6cf246740bb"/>
    <p:sldId xmlns:r="http://schemas.openxmlformats.org/officeDocument/2006/relationships" id="257" r:id="R97eeb0dd7f2d4e17"/>
    <p:sldId xmlns:r="http://schemas.openxmlformats.org/officeDocument/2006/relationships" id="258" r:id="R557dd28e00ca487c"/>
    <p:sldId xmlns:r="http://schemas.openxmlformats.org/officeDocument/2006/relationships" id="259" r:id="R35b30db2a1f94716"/>
    <p:sldId xmlns:r="http://schemas.openxmlformats.org/officeDocument/2006/relationships" id="260" r:id="R9faa8aeb1d994d68"/>
    <p:sldId xmlns:r="http://schemas.openxmlformats.org/officeDocument/2006/relationships" id="261" r:id="R55cd1d6c762d49e7"/>
    <p:sldId xmlns:r="http://schemas.openxmlformats.org/officeDocument/2006/relationships" id="262" r:id="R05ddddcd6f4640df"/>
    <p:sldId xmlns:r="http://schemas.openxmlformats.org/officeDocument/2006/relationships" id="263" r:id="Ra47f18ab4f254978"/>
    <p:sldId xmlns:r="http://schemas.openxmlformats.org/officeDocument/2006/relationships" id="264" r:id="R7eeb2c5ec737444c"/>
    <p:sldId xmlns:r="http://schemas.openxmlformats.org/officeDocument/2006/relationships" id="265" r:id="R57609dedaee6483d"/>
    <p:sldId xmlns:r="http://schemas.openxmlformats.org/officeDocument/2006/relationships" id="266" r:id="R608da69aa9164151"/>
    <p:sldId xmlns:r="http://schemas.openxmlformats.org/officeDocument/2006/relationships" id="267" r:id="R36c63c6c39bb43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e39c52a9244520" /><Relationship Type="http://schemas.openxmlformats.org/officeDocument/2006/relationships/slideMaster" Target="/ppt/slideMasters/slideMaster1.xml" Id="R00ce2db414394f6c" /><Relationship Type="http://schemas.openxmlformats.org/officeDocument/2006/relationships/notesMaster" Target="/ppt/notesMasters/notesMaster1.xml" Id="R7d422952b32c4da5" /><Relationship Type="http://schemas.openxmlformats.org/officeDocument/2006/relationships/presProps" Target="/ppt/presProps.xml" Id="R63effb2f81284527" /><Relationship Type="http://schemas.openxmlformats.org/officeDocument/2006/relationships/tableStyles" Target="/ppt/tableStyles.xml" Id="Rafa5386123714e9f" /><Relationship Type="http://schemas.openxmlformats.org/officeDocument/2006/relationships/slide" Target="/ppt/slides/slide1.xml" Id="R1f06b6cf246740bb" /><Relationship Type="http://schemas.openxmlformats.org/officeDocument/2006/relationships/slide" Target="/ppt/slides/slide2.xml" Id="R97eeb0dd7f2d4e17" /><Relationship Type="http://schemas.openxmlformats.org/officeDocument/2006/relationships/slide" Target="/ppt/slides/slide3.xml" Id="R557dd28e00ca487c" /><Relationship Type="http://schemas.openxmlformats.org/officeDocument/2006/relationships/slide" Target="/ppt/slides/slide4.xml" Id="R35b30db2a1f94716" /><Relationship Type="http://schemas.openxmlformats.org/officeDocument/2006/relationships/slide" Target="/ppt/slides/slide5.xml" Id="R9faa8aeb1d994d68" /><Relationship Type="http://schemas.openxmlformats.org/officeDocument/2006/relationships/slide" Target="/ppt/slides/slide6.xml" Id="R55cd1d6c762d49e7" /><Relationship Type="http://schemas.openxmlformats.org/officeDocument/2006/relationships/slide" Target="/ppt/slides/slide7.xml" Id="R05ddddcd6f4640df" /><Relationship Type="http://schemas.openxmlformats.org/officeDocument/2006/relationships/slide" Target="/ppt/slides/slide8.xml" Id="Ra47f18ab4f254978" /><Relationship Type="http://schemas.openxmlformats.org/officeDocument/2006/relationships/slide" Target="/ppt/slides/slide9.xml" Id="R7eeb2c5ec737444c" /><Relationship Type="http://schemas.openxmlformats.org/officeDocument/2006/relationships/slide" Target="/ppt/slides/slide10.xml" Id="R57609dedaee6483d" /><Relationship Type="http://schemas.openxmlformats.org/officeDocument/2006/relationships/slide" Target="/ppt/slides/slide11.xml" Id="R608da69aa9164151" /><Relationship Type="http://schemas.openxmlformats.org/officeDocument/2006/relationships/slide" Target="/ppt/slides/slide12.xml" Id="R36c63c6c39bb43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43640a777b4a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7f7d94517b4381" /><Relationship Type="http://schemas.openxmlformats.org/officeDocument/2006/relationships/notesMaster" Target="/ppt/notesMasters/notesMaster1.xml" Id="R3dce9949ccc34e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72f88b88a74cf3" /><Relationship Type="http://schemas.openxmlformats.org/officeDocument/2006/relationships/notesMaster" Target="/ppt/notesMasters/notesMaster1.xml" Id="R05083a6e8eb646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209eb393744b8e" /><Relationship Type="http://schemas.openxmlformats.org/officeDocument/2006/relationships/notesMaster" Target="/ppt/notesMasters/notesMaster1.xml" Id="Rb8c9f0f2036146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dfe5c744a847ef" /><Relationship Type="http://schemas.openxmlformats.org/officeDocument/2006/relationships/notesMaster" Target="/ppt/notesMasters/notesMaster1.xml" Id="Rc0918655d06d4a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7412fa8c9b47b1" /><Relationship Type="http://schemas.openxmlformats.org/officeDocument/2006/relationships/notesMaster" Target="/ppt/notesMasters/notesMaster1.xml" Id="R353ba6feda3645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731fdfb7444147" /><Relationship Type="http://schemas.openxmlformats.org/officeDocument/2006/relationships/notesMaster" Target="/ppt/notesMasters/notesMaster1.xml" Id="Rc62bae43bd6c42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7c0ceab8524612" /><Relationship Type="http://schemas.openxmlformats.org/officeDocument/2006/relationships/notesMaster" Target="/ppt/notesMasters/notesMaster1.xml" Id="Rf109663859fe49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a58629cb8e435c" /><Relationship Type="http://schemas.openxmlformats.org/officeDocument/2006/relationships/notesMaster" Target="/ppt/notesMasters/notesMaster1.xml" Id="R8cd6c5ea913049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283c7c99b54891" /><Relationship Type="http://schemas.openxmlformats.org/officeDocument/2006/relationships/notesMaster" Target="/ppt/notesMasters/notesMaster1.xml" Id="R79aa452c46f24a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a147759a5247e6" /><Relationship Type="http://schemas.openxmlformats.org/officeDocument/2006/relationships/notesMaster" Target="/ppt/notesMasters/notesMaster1.xml" Id="Rca47f5200faf46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b57c466a7c4078" /><Relationship Type="http://schemas.openxmlformats.org/officeDocument/2006/relationships/notesMaster" Target="/ppt/notesMasters/notesMaster1.xml" Id="R444f00ecef7c4e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2af5e6364244d7" /><Relationship Type="http://schemas.openxmlformats.org/officeDocument/2006/relationships/notesMaster" Target="/ppt/notesMasters/notesMaster1.xml" Id="Re61f3635636f4e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notebooks/eda_complete.ipynb; data/processed/AI_DS_SEM4_MASTER_RESULTS.csv; clustering outputs in data/processed and reports/.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eda_complete.ipynb cells 7, 13, 17, 25, 31-32, 65, 68; V2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eda_complete.ipynb cells 4, 7-18;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eda_complete.ipynb cells 24-25, 28, 31-33, 44-47.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notebooks/eda_complete.ipynb cells 31-37. Charts are notebook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eda_complete.ipynb cells 63-68; calculations from data/processed/AI_DS_SEM4_MASTER_RESULTS.csv. Course grades/means computed from source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eda_complete.ipynb cells 81-94.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src/ml/clustering.py; data/processed/AI_DS_SEM4_CLUSTERED_STUDENTS.csv.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reports/figures/kmeans_07_pca_2d.png and kmeans_06_theory_vs_lab.png; src/ml/clustering.py.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scripts/student_clustering_v2.py; reports/clustering_v2_summary.txt; figures clustering_v2_elbow.png and clustering_v2_silhouette.png.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reports/clustering_v2_summary.txt; reports/figures/clustering_v2_radar.png.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and V2 clustering outputs. Recommendations are analytical interpretations based on observed cohort profiles, not causal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30ddd33b5845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f458f4086148b8" /><Relationship Type="http://schemas.openxmlformats.org/officeDocument/2006/relationships/slideLayout" Target="/ppt/slideLayouts/slideLayout1.xml" Id="Rbe3da0c0514946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3da0c0514946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8dbda37354937" /><Relationship Type="http://schemas.openxmlformats.org/officeDocument/2006/relationships/notesSlide" Target="/ppt/notesSlides/notesSlide1.xml" Id="R376b277b712c43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15d72b7e2485a" /><Relationship Type="http://schemas.openxmlformats.org/officeDocument/2006/relationships/notesSlide" Target="/ppt/notesSlides/notesSlide2.xml" Id="Ra2796905185743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6a1179d774b5a" /><Relationship Type="http://schemas.openxmlformats.org/officeDocument/2006/relationships/notesSlide" Target="/ppt/notesSlides/notesSlide3.xml" Id="Rf522bf204fb64f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9370f990a4f2e" /><Relationship Type="http://schemas.openxmlformats.org/officeDocument/2006/relationships/chart" Target="/ppt/slides/charts/chart1.xml" Id="R74cea016560147c4" /><Relationship Type="http://schemas.openxmlformats.org/officeDocument/2006/relationships/notesSlide" Target="/ppt/notesSlides/notesSlide4.xml" Id="Rc0af310dcf1b44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1f84387eb4d9e" /><Relationship Type="http://schemas.openxmlformats.org/officeDocument/2006/relationships/image" Target="/ppt/media/image.png" Id="R2e5f804eb6984c0d" /><Relationship Type="http://schemas.openxmlformats.org/officeDocument/2006/relationships/image" Target="/ppt/media/image2.png" Id="Rf95f37bfbc0e412f" /><Relationship Type="http://schemas.openxmlformats.org/officeDocument/2006/relationships/notesSlide" Target="/ppt/notesSlides/notesSlide5.xml" Id="Rcf9df364f0d847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36794ffd34a32" /><Relationship Type="http://schemas.openxmlformats.org/officeDocument/2006/relationships/chart" Target="/ppt/slides/charts/chart2.xml" Id="R97ed57b02d3a49cc" /><Relationship Type="http://schemas.openxmlformats.org/officeDocument/2006/relationships/notesSlide" Target="/ppt/notesSlides/notesSlide6.xml" Id="Rf1f9d55a3d914a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89a927d924520" /><Relationship Type="http://schemas.openxmlformats.org/officeDocument/2006/relationships/image" Target="/ppt/media/image3.png" Id="R722fa8a161e741dc" /><Relationship Type="http://schemas.openxmlformats.org/officeDocument/2006/relationships/notesSlide" Target="/ppt/notesSlides/notesSlide7.xml" Id="Rbf53a5cd1d834b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3a7b5fc0241ad" /><Relationship Type="http://schemas.openxmlformats.org/officeDocument/2006/relationships/notesSlide" Target="/ppt/notesSlides/notesSlide8.xml" Id="Ra252517c5bdc49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d3529cc534764" /><Relationship Type="http://schemas.openxmlformats.org/officeDocument/2006/relationships/image" Target="/ppt/media/image4.png" Id="R4ef5bce5f44b4dc1" /><Relationship Type="http://schemas.openxmlformats.org/officeDocument/2006/relationships/image" Target="/ppt/media/image5.png" Id="R0116356a356a4194" /><Relationship Type="http://schemas.openxmlformats.org/officeDocument/2006/relationships/notesSlide" Target="/ppt/notesSlides/notesSlide9.xml" Id="Radb8bb2287fe49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b8186cfe948de" /><Relationship Type="http://schemas.openxmlformats.org/officeDocument/2006/relationships/image" Target="/ppt/media/image6.png" Id="R056ed54ec66d48b1" /><Relationship Type="http://schemas.openxmlformats.org/officeDocument/2006/relationships/image" Target="/ppt/media/image7.png" Id="Rea580b76df5e47b9" /><Relationship Type="http://schemas.openxmlformats.org/officeDocument/2006/relationships/notesSlide" Target="/ppt/notesSlides/notesSlide10.xml" Id="R51d2c1f0d54b43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07b30986149cc" /><Relationship Type="http://schemas.openxmlformats.org/officeDocument/2006/relationships/image" Target="/ppt/media/image8.png" Id="Rc8024ff425b74b95" /><Relationship Type="http://schemas.openxmlformats.org/officeDocument/2006/relationships/notesSlide" Target="/ppt/notesSlides/notesSlide11.xml" Id="R3709be1d479d4c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81a81e9cb4ca9" /><Relationship Type="http://schemas.openxmlformats.org/officeDocument/2006/relationships/notesSlide" Target="/ppt/notesSlides/notesSlide12.xml" Id="Rad4b9375c714483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Students</c:v>
          </c:tx>
          <c:dPt>
            <c:idx val="0"/>
            <c:spPr>
              <a:solidFill xmlns:a="http://schemas.openxmlformats.org/drawingml/2006/main">
                <a:srgbClr val="2F855A"/>
              </a:solidFill>
            </c:spPr>
          </c:dPt>
          <c:dPt>
            <c:idx val="1"/>
            <c:spPr>
              <a:solidFill xmlns:a="http://schemas.openxmlformats.org/drawingml/2006/main">
                <a:srgbClr val="D64545"/>
              </a:solidFill>
            </c:spPr>
          </c:dPt>
          <c:dPt>
            <c:idx val="2"/>
            <c:spPr>
              <a:solidFill xmlns:a="http://schemas.openxmlformats.org/drawingml/2006/main">
                <a:srgbClr val="E69A24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Successful</c:v>
                </c:pt>
                <c:pt idx="1">
                  <c:v>Unsuccessful</c:v>
                </c:pt>
                <c:pt idx="2">
                  <c:v>Absent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60</c:v>
                </c:pt>
                <c:pt idx="1">
                  <c:v>27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43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0"/>
        </c:dLbls>
        <c:holeSize val="63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2A43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Correlation with total</c:v>
          </c:tx>
          <c:spPr>
            <a:solidFill xmlns:a="http://schemas.openxmlformats.org/drawingml/2006/main">
              <a:srgbClr val="1F6FEB"/>
            </a:solidFill>
          </c:spPr>
          <c:cat>
            <c:strRef>
              <c:f>'Chart Data'!$A$2:$A$6</c:f>
              <c:strCache>
                <c:ptCount val="5"/>
                <c:pt idx="0">
                  <c:v>DBMS</c:v>
                </c:pt>
                <c:pt idx="1">
                  <c:v>OS</c:v>
                </c:pt>
                <c:pt idx="2">
                  <c:v>FTS</c:v>
                </c:pt>
                <c:pt idx="3">
                  <c:v>CT</c:v>
                </c:pt>
                <c:pt idx="4">
                  <c:v>OE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0.896</c:v>
                </c:pt>
                <c:pt idx="1">
                  <c:v>0.875</c:v>
                </c:pt>
                <c:pt idx="2">
                  <c:v>0.858</c:v>
                </c:pt>
                <c:pt idx="3">
                  <c:v>0.857</c:v>
                </c:pt>
                <c:pt idx="4">
                  <c:v>0.733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A43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DF5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61A8C-898B-4CD6-951B-20C3296A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91E23-CA6F-40B5-AB52-48028D08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Academic Result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0152C-C72B-4E08-9B75-9FB7E47B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AI &amp; Data Science, Semester IV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38D3E-127C-4133-AD47-9D9ADF00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CCCD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CCCDC"/>
                </a:solidFill>
                <a:latin typeface="Aptos"/>
                <a:ea typeface="Aptos"/>
                <a:cs typeface="Aptos"/>
              </a:rPr>
              <a:t>Exploratory analysis, subject diagnostics, and K-means student segmentation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B09D5-AB9F-4257-B5ED-8C52086B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62C21-8265-438E-B12B-A7E55D62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88 students    11 courses    113 source fields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D9238-59D5-42A2-9888-834CC72A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Prepared from the validated master results dataset and analytical notebooks</a:t>
            </a:r>
          </a:p>
        </p:txBody>
      </p:sp>
    </p:spTree>
    <p:extLst>
      <p:ext uri="{BB962C8B-B14F-4D97-AF65-F5344CB8AC3E}">
        <p14:creationId xmlns:p14="http://schemas.microsoft.com/office/powerpoint/2010/main" val="595745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70D48B-515D-4342-A4CA-28253BA0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Executive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2C685-16DF-4586-AC21-35A5BAC2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cohort shows a strong upper segment alongside a material academic-support population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2ADCE-B8A7-43C4-A6AA-18B29BC2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2E18D-B41F-42BE-B9D4-7C92DE5C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91137-28D8-45DA-802C-7C004C64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Students analysed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E2430-500D-4431-BBA0-B504F655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7162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68.2%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F9618-7722-4249-A256-A453AD8D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336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Successful result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72D45-0DDF-4D7B-9B44-DE5AE894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7162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62.4%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90067-3AB6-4DBD-9E4C-24A56EB3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336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Mean percentage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82BB8-CAEB-45C8-A6DA-D7442148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7162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6B46C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6B46C1"/>
                </a:solidFill>
                <a:latin typeface="Aptos"/>
                <a:ea typeface="Aptos"/>
                <a:cs typeface="Aptos"/>
              </a:rPr>
              <a:t>7.15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5BD1E-8E6E-45C5-BB8F-A317E00E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336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Median SGPI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50844-D306-4212-8374-3B5B27CA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84718-95C3-4F5C-AB9E-D0C6F6D0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the analysis shows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7A510-4B85-456B-910E-C320D37C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5619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Results are complete and unique across all 88 students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DBMS marks show the strongest association with overall total (r = 0.896)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K-means V2 separates 21 students into support and critical-intervention groups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Original clustering confirms a practical-strong, theory-deficit segment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56DF3-B521-4649-8966-CDDC866C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Decision focus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92611-490F-4A35-9993-749B9979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48100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Prioritize theory reinforcement for developing learners, intensive recovery plans for the critical group, and enrichment opportunities for high achievers.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3BEBFC-4F38-4B4B-B377-7182B1E3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A2FFF6-E886-4E33-B821-918DDC2A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1320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78C00-1081-40E4-B845-980D37F4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 foundation and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435FB-1474-4AFD-9B59-AC4366E2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 clean academic record supports reliable descriptive analysis and clustering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12E15-8ACF-4475-B908-4BD349CD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6191250" cy="2952750"/>
        </p:xfrm>
        <a:graphic xmlns:a="http://schemas.openxmlformats.org/drawingml/2006/main">
          <a:graphicData uri="http://schemas.openxmlformats.org/drawingml/2006/table">
            <a:tbl>
              <a:tblPr firstCol="1" bandRow="1"/>
              <a:tblGrid>
                <a:gridCol w="3095625"/>
                <a:gridCol w="3095625"/>
              </a:tblGrid>
              <a:tr h="590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AI_DS_SEM4_MASTER_RESULTS.csv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Coverage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88 students × 113 columns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Courses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11 assessed courses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Completeness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0 missing values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Uniqueness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0 duplicate students or rows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C329E-E860-47A3-9B42-F0763D86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66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Analytical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ED59E-5058-4C9D-BD99-43E828E6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34766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Cohort composition and result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Percentage and SGPI distributions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Course-level averages, grades, and correlations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Theory versus lab performance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Two K-means segmentation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430A8-C283-4652-96A0-2D74A66F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Caveat: The dataset represents one semester and one cohort. Clusters are descriptive groups, not individual predictions.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1388E-3882-4D55-A71A-4241FE86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754C9-14E3-4FD6-8EA2-C5A4EE74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049262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74C3A-8E38-4F6A-B7C2-4FC087A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Result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5A1A4-4609-4D95-8A35-09341026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60 students succeeded, while 28 need follow-up or remediation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AAD0E-A136-4C9F-8AAD-18E98408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44767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cea016560147c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66E2D-E485-4AA5-8273-00D190CA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Distribution highlights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FFFEE-0035-4E90-A035-8D6C3516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Mean total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0E958-7F6F-40BA-A2FE-F3F9F426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431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483.9 / 775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FC17D-B0C5-4393-AB9C-E87AE0E7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Median percentage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D9111-8DF0-4849-82E5-8C110EB1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66.91%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4D96B-91BC-4628-8212-6A5145AE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Range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88205-3F0C-4203-9BC9-28C5CF9A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46C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6B46C1"/>
                </a:solidFill>
                <a:latin typeface="Aptos"/>
                <a:ea typeface="Aptos"/>
                <a:cs typeface="Aptos"/>
              </a:rPr>
              <a:t>1.29% to 85.55%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7ADB4-8254-42BC-AA25-A6D983FC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9112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SGPI distribution includes zeros for unsuccessful and absent outcomes, so median performance better describes the successful core than the overall mean.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B381C-5E53-4CDC-B24F-F57C2238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DDC5E-53CC-4BC6-BDD6-8B976EA6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471274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DD7FB-9503-4A92-B2E2-BA98FE7E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Performance distributions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59A7C-26AA-4694-A5B0-071CE3BF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cohort concentrates in the mid-to-high range, with a distinct lower-performing 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E6E8C-B70E-42EE-AFCD-D222D85D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f804eb6984c0d"/>
          <a:stretch xmlns:a="http://schemas.openxmlformats.org/drawingml/2006/main"/>
        </p:blipFill>
        <p:spPr>
          <a:xfrm xmlns:a="http://schemas.openxmlformats.org/drawingml/2006/main">
            <a:off x="523875" y="1935856"/>
            <a:ext cx="5381625" cy="2652914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f37bfbc0e412f"/>
          <a:stretch xmlns:a="http://schemas.openxmlformats.org/drawingml/2006/main"/>
        </p:blipFill>
        <p:spPr>
          <a:xfrm xmlns:a="http://schemas.openxmlformats.org/drawingml/2006/main">
            <a:off x="6286500" y="1843963"/>
            <a:ext cx="5381625" cy="283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FC078-1B89-45E8-A753-A8B1741A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Percentage distribution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37E9F-6A72-4AAE-A241-BCD3945C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219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SGPI distribution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F9099-C1AB-498A-81E6-A5DC8186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lower tail reflects the 27 unsuccessful outcomes and one absence. These students should not be treated as a homogeneous group: the V2 model separates developing learners from severe underperformance.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AE969-704C-4FDE-89CE-172765E6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B5EE1-E46F-4194-98BB-11A8224F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159470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E4F72-8F08-42F6-B7F1-A175E640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Subject diagnostics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06E9F-B954-4310-B718-E6B0969B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DBMS aligns most closely with total marks, while theory performance needs the closest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D187C-4D48-41E3-A385-EB453C15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ed57b02d3a49c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EE719-AFAB-4B3B-8B6E-AC9EE8C2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Correlation with overall total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143750" y="1809750"/>
          <a:ext xmlns:a="http://schemas.openxmlformats.org/drawingml/2006/main" cx="3905250" cy="2809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01750"/>
                <a:gridCol w="1301750"/>
                <a:gridCol w="1301750"/>
              </a:tblGrid>
              <a:tr h="468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Course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Mean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 grades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4683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DBMS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59.1 / 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15</a:t>
                      </a:r>
                    </a:p>
                  </a:txBody>
                  <a:tcPr marL="91440" marR="91440" marT="45720" marB="45720"/>
                </a:tc>
              </a:tr>
              <a:tr h="4683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57.2 / 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16</a:t>
                      </a:r>
                    </a:p>
                  </a:txBody>
                  <a:tcPr marL="91440" marR="91440" marT="45720" marB="45720"/>
                </a:tc>
              </a:tr>
              <a:tr h="4683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FTS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56.1 / 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17</a:t>
                      </a:r>
                    </a:p>
                  </a:txBody>
                  <a:tcPr marL="91440" marR="91440" marT="45720" marB="45720"/>
                </a:tc>
              </a:tr>
              <a:tr h="4683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58.0 / 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15</a:t>
                      </a:r>
                    </a:p>
                  </a:txBody>
                  <a:tcPr marL="91440" marR="91440" marT="45720" marB="45720"/>
                </a:tc>
              </a:tr>
              <a:tr h="4683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DBMS Lab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37.6 / 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8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C725C-AE35-4E09-B7E8-D23777FD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53000"/>
            <a:ext cx="381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DBMS has the highest observed correlation with overall total (r = 0.896). The course-level view points to broad theory reinforcement rather than a single-course intervention.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AB601-344E-4D27-93D3-8186F4A5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DE061-E82A-4907-AE4C-EBA38E10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389639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18A91-C3E5-4110-A75D-3BBDC5DA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Theory and lab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9A280-CF3F-43DE-A4C4-C03DA4E9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Average theory performance lags lab performance when measured against their different marking scales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D1C7A-E406-4129-ABD8-6714C5A5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fa8a161e741dc"/>
          <a:stretch xmlns:a="http://schemas.openxmlformats.org/drawingml/2006/main"/>
        </p:blipFill>
        <p:spPr>
          <a:xfrm xmlns:a="http://schemas.openxmlformats.org/drawingml/2006/main">
            <a:off x="571500" y="1628398"/>
            <a:ext cx="6477000" cy="355358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19B1D-4FD0-45D5-B5BC-C0D626E2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668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Cohort averages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DCE8A-3C6B-4B58-B233-417B401B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3837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55.6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A875C-A1FA-4914-A8FE-3BE04979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574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Mean theory score</a:t>
            </a:r>
          </a:p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(out of 100)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38F01-61C2-497C-8B61-8A088908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3850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34.4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0A882-C43A-45AA-BC1D-055426E0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57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Mean lab score</a:t>
            </a:r>
          </a:p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(out of 50)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C550F-EF0D-4B8F-8198-B183F662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81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5BE2C-C94F-444E-98DC-F714EE90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7815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Practical marks are generally stronger. This pattern becomes central to the original K-means model, which identifies a practical-strong group with clear theory deficits.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396AF-E89E-4E1B-A98B-3BD227CB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77602-B0EC-46A0-ABD5-B710C38D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66350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44343-66B5-4DD0-A416-2C3B9E27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Original K-means segmentation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549A4-C0CD-40ED-B0CA-94F6F62D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 compact model uses four performance signals to distinguish high achievement, theory deficit, and multi-subject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28BBA-B71A-45F4-B7CF-20A0EE86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4734A-1565-4934-8E29-05DAB3C8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 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4EF8A-E83F-47FE-96AC-8CADCD29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66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Theory average %</a:t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Lab average %</a:t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Failed subjects count</a:t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Overall percentage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C5431-75B8-441D-844D-01144AB5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Three cluster profiles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476750" y="2047875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66875"/>
                <a:gridCol w="1666875"/>
                <a:gridCol w="1666875"/>
                <a:gridCol w="1666875"/>
              </a:tblGrid>
              <a:tr h="50006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Profile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Students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Mean %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Pass rate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Academic Leaders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62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70.7%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96.8% pass</a:t>
                      </a:r>
                    </a:p>
                  </a:txBody>
                  <a:tcPr marL="91440" marR="91440" marT="45720" marB="45720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Practical-Strong / Theory-Deficit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50.5%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0% pass</a:t>
                      </a:r>
                    </a:p>
                  </a:txBody>
                  <a:tcPr marL="91440" marR="91440" marT="45720" marB="45720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At-Risk / Multi-Subject Deficit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25.2%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0% pass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9B138-936F-4D7C-9557-6B5E195C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Why this model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7A831-7CB2-443D-BC72-B16D231C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It avoids treating a zero SGPI as a complete picture of competency. Students with practical strength but theory failures receive a distinct profile rather than being grouped with severe underperformance.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E1A10-F91A-49F3-99DD-5D1B8F6A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F90DD-DABD-4E7A-946E-8587951D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487547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0A9F8-83F7-425B-8249-ECC1B4EC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Original 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BD1AB-1823-4ED6-BB93-0E3C85AD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first model isolates a broad high-achiever group, a theory-deficit group, and a small critical-risk group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99C01-5935-45D6-9800-51C75264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5bce5f44b4dc1"/>
          <a:stretch xmlns:a="http://schemas.openxmlformats.org/drawingml/2006/main"/>
        </p:blipFill>
        <p:spPr>
          <a:xfrm xmlns:a="http://schemas.openxmlformats.org/drawingml/2006/main">
            <a:off x="608228" y="1428750"/>
            <a:ext cx="5165294" cy="385762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6356a356a4194"/>
          <a:stretch xmlns:a="http://schemas.openxmlformats.org/drawingml/2006/main"/>
        </p:blipFill>
        <p:spPr>
          <a:xfrm xmlns:a="http://schemas.openxmlformats.org/drawingml/2006/main">
            <a:off x="6372669" y="1428750"/>
            <a:ext cx="5161662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688B6-2D51-4441-AFE9-59434B6F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PCA projection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59246-5529-4CCD-8FA3-A7CE7A60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429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Theory versus lab by cluster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26659-DD06-40EA-828C-75799861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practical-strong segment provides the key operational insight: academic support should target theory recovery without assuming weak lab competency.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97E48-2D3B-414F-9857-5619C960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8745E-361B-462C-BD6D-7E1E54FD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28055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A57E3-E708-465D-A6AD-3E5DE688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K-means V2: competency-based segmentation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EE8F8-F420-43DE-9CD3-A57E7904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V2 uses 17 features to separate performance level, learning mode, consistency, and assessment balance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EAAD3-560C-47A1-B603-8975584B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BDC26-3761-4EEF-B3A3-57459DB5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Feature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DE21E-90C1-4A96-9AFF-8C52D665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11 course-level percentages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Theory, practical, and coursework averages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Subject-level consistency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External–internal assessment gap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Cumulative percentage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DF8E8-E476-4F11-98D3-766D1BC6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66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 selection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D24CD-852A-4B6B-B81E-13C2C18A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336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K =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49699-2A68-4918-A5C4-74968CF5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193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Selected clusters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7F3B9-888A-484F-B1E6-7D637F2A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432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Silhouette = 0.2471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C7818-5FD9-4D2B-B727-67037C2C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671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Separation is modest, so use personas as a planning lens rather than rigid labels.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ed54ec66d48b1"/>
          <a:stretch xmlns:a="http://schemas.openxmlformats.org/drawingml/2006/main"/>
        </p:blipFill>
        <p:spPr>
          <a:xfrm xmlns:a="http://schemas.openxmlformats.org/drawingml/2006/main">
            <a:off x="8191500" y="1738313"/>
            <a:ext cx="3048000" cy="152400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80b76df5e47b9"/>
          <a:stretch xmlns:a="http://schemas.openxmlformats.org/drawingml/2006/main"/>
        </p:blipFill>
        <p:spPr>
          <a:xfrm xmlns:a="http://schemas.openxmlformats.org/drawingml/2006/main">
            <a:off x="8191500" y="3881438"/>
            <a:ext cx="3048000" cy="1524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95D97-0D18-451A-961B-742A4FCA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FE57D-39C0-4FA0-9760-E158ADCE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044634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39564-92C5-4E73-B403-934B1EE6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K-means V2 personas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73FFB-AC9A-4C44-8BA8-8B9D26F9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V2 splits the original middle-to-lower segment into a focused support group and a critical intervention group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33B31-B242-4E9E-9BBC-078174D7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23875" y="1524000"/>
          <a:ext xmlns:a="http://schemas.openxmlformats.org/drawingml/2006/main" cx="666750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1333500"/>
                <a:gridCol w="1333500"/>
                <a:gridCol w="1333500"/>
              </a:tblGrid>
              <a:tr h="5905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Persona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Students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Mean %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Theory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Practical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High achievers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75.86%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73.2%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80.5%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Solid performers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34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64.08%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58.4%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73.6%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Developing support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47.01%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39.5%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64.3%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Critical intervention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25.19%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31.7%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7.9%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24ff425b74b95"/>
          <a:stretch xmlns:a="http://schemas.openxmlformats.org/drawingml/2006/main"/>
        </p:blipFill>
        <p:spPr>
          <a:xfrm xmlns:a="http://schemas.openxmlformats.org/drawingml/2006/main">
            <a:off x="7667625" y="1700672"/>
            <a:ext cx="3619500" cy="288515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B2153-7F11-4575-A9D8-A674A4DE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Planning implication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7B0A2-7047-4303-A2E0-5655BB8D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13 developing learners retain practical strength and need theory reinforcement. The 8 critical learners need broader attendance, practical, and multi-subject recovery support.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72A88-8C98-4E05-86CD-B256D3DD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08AFC-FBEE-4C1D-8EC2-4EDE7DA0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911860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D00CA8-0DBB-4BF4-BCE7-CE7A3923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From segmentation to academic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33F48-0882-4E22-BCBA-92EB7E5A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Use V2 for differentiated planning, with the original model retained as a clear diagnostic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29092-7267-4DFF-83E4-8746726A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6C927-E9E0-4E3E-819B-5D4EB4C0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Original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BBE57-BBB0-4F67-B9FD-FC88DA61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3 groups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4 derived indicators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Highlights practical strength versus theory deficit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Best for a simple risk and competency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A24A8-8B36-46D7-B105-28080C01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19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V2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6CCA9-672C-4464-97E3-0B2B2D5C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361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4 groups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17 competency and consistency features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Separates developing support from critical intervention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Best for targeted cohort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C05D4-FA4F-4E7E-A06A-76F0F010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A7663-6737-48A1-8D59-F3F7C3D0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Recommended academic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DC2AE-8D50-4D28-B364-49ABE19F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High achievers (33)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0FBB9-A526-4179-AB47-54F838F3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57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Enrichment, peer tutoring, advanced project opportunities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2FEAE-E97B-419B-B0E1-036999E0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Solid performers (34)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7F520-6E3C-4C46-95DF-A64744D9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006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Targeted theory practice to improve consistency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C768C-1DE4-46F8-922F-270C88DE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Developing support (13)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60880-0D41-4B5D-883F-7394049C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435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Structured theory recovery with weekly checkpoints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D83B2-628F-43FE-B0F7-B0C81010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Critical intervention (8)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00A58-6281-4ED5-84B2-2DF2FD34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864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Individual remediation plan and attendance follow-up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342ED4-583B-4D9E-9C41-5CF8ACEF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Next step: validate interventions with the next semester’s outcomes before using the segments operationally.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DACD9-EE5B-4CE0-9952-9275E06F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27C90C-9E19-4036-8806-7E0FA909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03944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2026-09-09T19:14:48.9950000Z</dcterms:created>
  <dcterms:modified xsi:type="dcterms:W3CDTF">2026-09-09T19:14:48.9950000Z</dcterms:modified>
</coreProperties>
</file>