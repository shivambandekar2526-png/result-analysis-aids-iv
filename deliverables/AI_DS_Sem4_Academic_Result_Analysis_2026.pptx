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34432896974fa3" /><Relationship Type="http://schemas.openxmlformats.org/officeDocument/2006/relationships/extended-properties" Target="/docProps/app.xml" Id="R29915be03cb343a3" /><Relationship Type="http://schemas.openxmlformats.org/officeDocument/2006/relationships/officeDocument" Target="/ppt/presentation.xml" Id="Rb82b61a85a184c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12c1f8a6a3476f"/>
  </p:sldMasterIdLst>
  <p:notesMasterIdLst>
    <p:notesMasterId xmlns:r="http://schemas.openxmlformats.org/officeDocument/2006/relationships" r:id="R441d4dec18794bf8"/>
  </p:notesMasterIdLst>
  <p:sldIdLst>
    <p:sldId xmlns:r="http://schemas.openxmlformats.org/officeDocument/2006/relationships" id="256" r:id="R3c97403a9fdd41c4"/>
    <p:sldId xmlns:r="http://schemas.openxmlformats.org/officeDocument/2006/relationships" id="257" r:id="R354fcce397d2427c"/>
    <p:sldId xmlns:r="http://schemas.openxmlformats.org/officeDocument/2006/relationships" id="258" r:id="R51218bd55fdf43ee"/>
    <p:sldId xmlns:r="http://schemas.openxmlformats.org/officeDocument/2006/relationships" id="259" r:id="R2c0975e1baa64bea"/>
    <p:sldId xmlns:r="http://schemas.openxmlformats.org/officeDocument/2006/relationships" id="260" r:id="Rb0b94decd34f4055"/>
    <p:sldId xmlns:r="http://schemas.openxmlformats.org/officeDocument/2006/relationships" id="261" r:id="R0b500d5e3304490a"/>
    <p:sldId xmlns:r="http://schemas.openxmlformats.org/officeDocument/2006/relationships" id="262" r:id="Rdf4c0b64039a4461"/>
    <p:sldId xmlns:r="http://schemas.openxmlformats.org/officeDocument/2006/relationships" id="263" r:id="Rca3ddaf3ee1344b1"/>
    <p:sldId xmlns:r="http://schemas.openxmlformats.org/officeDocument/2006/relationships" id="264" r:id="R4ee7a584f4914ca0"/>
    <p:sldId xmlns:r="http://schemas.openxmlformats.org/officeDocument/2006/relationships" id="265" r:id="Rf8a938ec377f4152"/>
    <p:sldId xmlns:r="http://schemas.openxmlformats.org/officeDocument/2006/relationships" id="266" r:id="Rf7c8e45f42584efa"/>
    <p:sldId xmlns:r="http://schemas.openxmlformats.org/officeDocument/2006/relationships" id="267" r:id="R8375f242e86144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5eece3834f40e3" /><Relationship Type="http://schemas.openxmlformats.org/officeDocument/2006/relationships/slideMaster" Target="/ppt/slideMasters/slideMaster1.xml" Id="R1b12c1f8a6a3476f" /><Relationship Type="http://schemas.openxmlformats.org/officeDocument/2006/relationships/notesMaster" Target="/ppt/notesMasters/notesMaster1.xml" Id="R441d4dec18794bf8" /><Relationship Type="http://schemas.openxmlformats.org/officeDocument/2006/relationships/presProps" Target="/ppt/presProps.xml" Id="R1c72c741d2c646da" /><Relationship Type="http://schemas.openxmlformats.org/officeDocument/2006/relationships/tableStyles" Target="/ppt/tableStyles.xml" Id="Rad01564a546a4873" /><Relationship Type="http://schemas.openxmlformats.org/officeDocument/2006/relationships/slide" Target="/ppt/slides/slide1.xml" Id="R3c97403a9fdd41c4" /><Relationship Type="http://schemas.openxmlformats.org/officeDocument/2006/relationships/slide" Target="/ppt/slides/slide2.xml" Id="R354fcce397d2427c" /><Relationship Type="http://schemas.openxmlformats.org/officeDocument/2006/relationships/slide" Target="/ppt/slides/slide3.xml" Id="R51218bd55fdf43ee" /><Relationship Type="http://schemas.openxmlformats.org/officeDocument/2006/relationships/slide" Target="/ppt/slides/slide4.xml" Id="R2c0975e1baa64bea" /><Relationship Type="http://schemas.openxmlformats.org/officeDocument/2006/relationships/slide" Target="/ppt/slides/slide5.xml" Id="Rb0b94decd34f4055" /><Relationship Type="http://schemas.openxmlformats.org/officeDocument/2006/relationships/slide" Target="/ppt/slides/slide6.xml" Id="R0b500d5e3304490a" /><Relationship Type="http://schemas.openxmlformats.org/officeDocument/2006/relationships/slide" Target="/ppt/slides/slide7.xml" Id="Rdf4c0b64039a4461" /><Relationship Type="http://schemas.openxmlformats.org/officeDocument/2006/relationships/slide" Target="/ppt/slides/slide8.xml" Id="Rca3ddaf3ee1344b1" /><Relationship Type="http://schemas.openxmlformats.org/officeDocument/2006/relationships/slide" Target="/ppt/slides/slide9.xml" Id="R4ee7a584f4914ca0" /><Relationship Type="http://schemas.openxmlformats.org/officeDocument/2006/relationships/slide" Target="/ppt/slides/slide10.xml" Id="Rf8a938ec377f4152" /><Relationship Type="http://schemas.openxmlformats.org/officeDocument/2006/relationships/slide" Target="/ppt/slides/slide11.xml" Id="Rf7c8e45f42584efa" /><Relationship Type="http://schemas.openxmlformats.org/officeDocument/2006/relationships/slide" Target="/ppt/slides/slide12.xml" Id="R8375f242e86144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846852b95f40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0217572cb0465c" /><Relationship Type="http://schemas.openxmlformats.org/officeDocument/2006/relationships/notesMaster" Target="/ppt/notesMasters/notesMaster1.xml" Id="Rf85f8cc1662844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2f8f03523341ff" /><Relationship Type="http://schemas.openxmlformats.org/officeDocument/2006/relationships/notesMaster" Target="/ppt/notesMasters/notesMaster1.xml" Id="R189e3f4a7adf44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158e7102c7457c" /><Relationship Type="http://schemas.openxmlformats.org/officeDocument/2006/relationships/notesMaster" Target="/ppt/notesMasters/notesMaster1.xml" Id="R32d3844fe61147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d6f7ea02f14002" /><Relationship Type="http://schemas.openxmlformats.org/officeDocument/2006/relationships/notesMaster" Target="/ppt/notesMasters/notesMaster1.xml" Id="R0378a4b3a60e40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4c4e37a2774a05" /><Relationship Type="http://schemas.openxmlformats.org/officeDocument/2006/relationships/notesMaster" Target="/ppt/notesMasters/notesMaster1.xml" Id="R04188b8f5a8f44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305d1772be441f" /><Relationship Type="http://schemas.openxmlformats.org/officeDocument/2006/relationships/notesMaster" Target="/ppt/notesMasters/notesMaster1.xml" Id="R3b7ec4eb3a184c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62f35a7f9340a8" /><Relationship Type="http://schemas.openxmlformats.org/officeDocument/2006/relationships/notesMaster" Target="/ppt/notesMasters/notesMaster1.xml" Id="R66971562ee7146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4afcee8f3543da" /><Relationship Type="http://schemas.openxmlformats.org/officeDocument/2006/relationships/notesMaster" Target="/ppt/notesMasters/notesMaster1.xml" Id="R3b825f43cb0c49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a61eee031a4e4f" /><Relationship Type="http://schemas.openxmlformats.org/officeDocument/2006/relationships/notesMaster" Target="/ppt/notesMasters/notesMaster1.xml" Id="R51c4fb2dec0649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7753d3482e427e" /><Relationship Type="http://schemas.openxmlformats.org/officeDocument/2006/relationships/notesMaster" Target="/ppt/notesMasters/notesMaster1.xml" Id="R0320dca3247c41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d47e24ab17498f" /><Relationship Type="http://schemas.openxmlformats.org/officeDocument/2006/relationships/notesMaster" Target="/ppt/notesMasters/notesMaster1.xml" Id="R3e288f5ac24846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5b66764a5d47bd" /><Relationship Type="http://schemas.openxmlformats.org/officeDocument/2006/relationships/notesMaster" Target="/ppt/notesMasters/notesMaster1.xml" Id="Ra11d74bf865643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notebooks/eda_complete.ipynb; data/processed/AI_DS_SEM4_MASTER_RESULTS.csv; clustering outputs in data/processed and reports/.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eda_complete.ipynb cells 7, 13, 17, 25, 31-32, 65, 68; V2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eda_complete.ipynb cells 4, 7-18;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eda_complete.ipynb cells 24-25, 28, 31-33, 44-47.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notebooks/eda_complete.ipynb cells 31-37. Charts are notebook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eda_complete.ipynb cells 63-68; calculations from data/processed/AI_DS_SEM4_MASTER_RESULTS.csv. Course grades/means computed from source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eda_complete.ipynb cells 81-94.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src/ml/clustering.py; data/processed/AI_DS_SEM4_CLUSTERED_STUDENTS.csv.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reports/figures/kmeans_07_pca_2d.png and kmeans_06_theory_vs_lab.png; src/ml/clustering.py.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scripts/student_clustering_v2.py; reports/clustering_v2_summary.txt; figures clustering_v2_elbow.png and clustering_v2_silhouette.png.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reports/clustering_v2_summary.txt; reports/figures/clustering_v2_radar.png.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and V2 clustering outputs. Recommendations are analytical interpretations based on observed cohort profiles, not causal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528c77b9044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169b53c43f4e56" /><Relationship Type="http://schemas.openxmlformats.org/officeDocument/2006/relationships/slideLayout" Target="/ppt/slideLayouts/slideLayout1.xml" Id="R50015da9f35041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015da9f35041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8f1e2be7d4929" /><Relationship Type="http://schemas.openxmlformats.org/officeDocument/2006/relationships/notesSlide" Target="/ppt/notesSlides/notesSlide1.xml" Id="R749b634643ea41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ddae7f3e542a8" /><Relationship Type="http://schemas.openxmlformats.org/officeDocument/2006/relationships/notesSlide" Target="/ppt/notesSlides/notesSlide2.xml" Id="R957f491d721748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2801c40bf4fb0" /><Relationship Type="http://schemas.openxmlformats.org/officeDocument/2006/relationships/notesSlide" Target="/ppt/notesSlides/notesSlide3.xml" Id="Rd4841d21f03540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bbb0d5a61416d" /><Relationship Type="http://schemas.openxmlformats.org/officeDocument/2006/relationships/chart" Target="/ppt/slides/charts/chart1.xml" Id="R242cf341ca444039" /><Relationship Type="http://schemas.openxmlformats.org/officeDocument/2006/relationships/notesSlide" Target="/ppt/notesSlides/notesSlide4.xml" Id="Rfc3be3a460fd48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88feee8cb4467" /><Relationship Type="http://schemas.openxmlformats.org/officeDocument/2006/relationships/image" Target="/ppt/media/image.png" Id="Re13cad8878aa43c3" /><Relationship Type="http://schemas.openxmlformats.org/officeDocument/2006/relationships/image" Target="/ppt/media/image2.png" Id="R8d836750735a4a3c" /><Relationship Type="http://schemas.openxmlformats.org/officeDocument/2006/relationships/notesSlide" Target="/ppt/notesSlides/notesSlide5.xml" Id="R9a753b25fe7041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d046916704bf3" /><Relationship Type="http://schemas.openxmlformats.org/officeDocument/2006/relationships/chart" Target="/ppt/slides/charts/chart2.xml" Id="R10e83b2800d247e8" /><Relationship Type="http://schemas.openxmlformats.org/officeDocument/2006/relationships/notesSlide" Target="/ppt/notesSlides/notesSlide6.xml" Id="Re81a11b792594f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45bf201f44fec" /><Relationship Type="http://schemas.openxmlformats.org/officeDocument/2006/relationships/image" Target="/ppt/media/image3.png" Id="Ra24c25e066a54c5e" /><Relationship Type="http://schemas.openxmlformats.org/officeDocument/2006/relationships/notesSlide" Target="/ppt/notesSlides/notesSlide7.xml" Id="R49224f00e4264f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69a4ea40244ce" /><Relationship Type="http://schemas.openxmlformats.org/officeDocument/2006/relationships/notesSlide" Target="/ppt/notesSlides/notesSlide8.xml" Id="R03ae07abcff345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8abf6ee8d4fc3" /><Relationship Type="http://schemas.openxmlformats.org/officeDocument/2006/relationships/image" Target="/ppt/media/image4.png" Id="R26814d17ea934665" /><Relationship Type="http://schemas.openxmlformats.org/officeDocument/2006/relationships/image" Target="/ppt/media/image5.png" Id="R85643eeda96c4ed6" /><Relationship Type="http://schemas.openxmlformats.org/officeDocument/2006/relationships/notesSlide" Target="/ppt/notesSlides/notesSlide9.xml" Id="R2768b08c350b44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7bf1d9c9a415f" /><Relationship Type="http://schemas.openxmlformats.org/officeDocument/2006/relationships/image" Target="/ppt/media/image6.png" Id="R68ad9883a85744d4" /><Relationship Type="http://schemas.openxmlformats.org/officeDocument/2006/relationships/image" Target="/ppt/media/image7.png" Id="R8292bfe1ee454233" /><Relationship Type="http://schemas.openxmlformats.org/officeDocument/2006/relationships/notesSlide" Target="/ppt/notesSlides/notesSlide10.xml" Id="Rc49c037934ac4e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4649b96b942bc" /><Relationship Type="http://schemas.openxmlformats.org/officeDocument/2006/relationships/image" Target="/ppt/media/image8.png" Id="R92c6f9d3a8ec47f9" /><Relationship Type="http://schemas.openxmlformats.org/officeDocument/2006/relationships/notesSlide" Target="/ppt/notesSlides/notesSlide11.xml" Id="Ra37b661d86ad43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48ee8d4054ba4" /><Relationship Type="http://schemas.openxmlformats.org/officeDocument/2006/relationships/notesSlide" Target="/ppt/notesSlides/notesSlide12.xml" Id="R41ae807d8cd447a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Students</c:v>
          </c:tx>
          <c:dPt>
            <c:idx val="0"/>
            <c:spPr>
              <a:solidFill xmlns:a="http://schemas.openxmlformats.org/drawingml/2006/main">
                <a:srgbClr val="2F855A"/>
              </a:solidFill>
            </c:spPr>
          </c:dPt>
          <c:dPt>
            <c:idx val="1"/>
            <c:spPr>
              <a:solidFill xmlns:a="http://schemas.openxmlformats.org/drawingml/2006/main">
                <a:srgbClr val="D64545"/>
              </a:solidFill>
            </c:spPr>
          </c:dPt>
          <c:dPt>
            <c:idx val="2"/>
            <c:spPr>
              <a:solidFill xmlns:a="http://schemas.openxmlformats.org/drawingml/2006/main">
                <a:srgbClr val="E69A24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Successful</c:v>
                </c:pt>
                <c:pt idx="1">
                  <c:v>Unsuccessful</c:v>
                </c:pt>
                <c:pt idx="2">
                  <c:v>Absent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60</c:v>
                </c:pt>
                <c:pt idx="1">
                  <c:v>27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0"/>
        </c:dLbls>
        <c:holeSize val="63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2A43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Correlation with total</c:v>
          </c:tx>
          <c:spPr>
            <a:solidFill xmlns:a="http://schemas.openxmlformats.org/drawingml/2006/main">
              <a:srgbClr val="1F6FEB"/>
            </a:solidFill>
          </c:spPr>
          <c:cat>
            <c:strRef>
              <c:f>'Chart Data'!$A$2:$A$6</c:f>
              <c:strCache>
                <c:ptCount val="5"/>
                <c:pt idx="0">
                  <c:v>DBMS</c:v>
                </c:pt>
                <c:pt idx="1">
                  <c:v>OS</c:v>
                </c:pt>
                <c:pt idx="2">
                  <c:v>FTS</c:v>
                </c:pt>
                <c:pt idx="3">
                  <c:v>CT</c:v>
                </c:pt>
                <c:pt idx="4">
                  <c:v>OE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0.896</c:v>
                </c:pt>
                <c:pt idx="1">
                  <c:v>0.875</c:v>
                </c:pt>
                <c:pt idx="2">
                  <c:v>0.858</c:v>
                </c:pt>
                <c:pt idx="3">
                  <c:v>0.857</c:v>
                </c:pt>
                <c:pt idx="4">
                  <c:v>0.733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5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7C2EE-D5A6-4A59-AFED-C6F26BC8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F5B81-942A-4E8A-87E5-EC271E90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Academic Result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E76B3-A482-433D-BA45-0810BA95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AI &amp; Data Science  |  Semester IV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D1439-9ED5-4BBA-908D-00088564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CCD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CCDC"/>
                </a:solidFill>
                <a:latin typeface="Aptos"/>
                <a:ea typeface="Aptos"/>
                <a:cs typeface="Aptos"/>
              </a:rPr>
              <a:t>Exploratory analysis, subject diagnostics, and K-means student segmentation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DA564-1871-416E-9E3E-274AE4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B19CE-1190-407F-934D-B9E833D1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88 students  •  11 courses  •  113 source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08B73-A610-45CA-AAE9-51C4892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Prepared from the validated master results dataset and analytical notebooks</a:t>
            </a:r>
          </a:p>
        </p:txBody>
      </p:sp>
    </p:spTree>
    <p:extLst>
      <p:ext uri="{BB962C8B-B14F-4D97-AF65-F5344CB8AC3E}">
        <p14:creationId xmlns:p14="http://schemas.microsoft.com/office/powerpoint/2010/main" val="1652924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E8E89-7483-4ACE-9AA9-FEBAC1DE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Executive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8F13A-67AE-4094-9660-59734344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cohort shows a strong upper segment alongside a material academic-support population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3BFF2-D883-4560-BE33-40F092CC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7B343-B2A2-4687-A921-85DDFD33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3B927-D2D7-4DA6-ADD2-AD90F7A8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Students analysed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00500-E75E-4A92-9775-DC84A3F1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716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68.2%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4C916-99AB-4B13-9E2D-B84E7B56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Successful result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E104D-C0C0-4E47-BF44-B471BE4A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716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62.4%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5D242-5EC5-49BC-A1C6-C24C3613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Mean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8EA89-2CDE-4C93-8B08-546B96E9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716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B46C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B46C1"/>
                </a:solidFill>
                <a:latin typeface="Aptos"/>
                <a:ea typeface="Aptos"/>
                <a:cs typeface="Aptos"/>
              </a:rPr>
              <a:t>7.15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7F7E5-3031-43EE-AAC9-3B5D8496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Median SGPI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DBC37-F91E-4B1D-9CDF-59EBED05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0B0EA-6021-4EA8-AA8F-14E55167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the analysis shows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0663A-DD76-481B-8441-BEB8C254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619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Results are complete and unique across all 88 students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DBMS marks show the strongest association with overall total (r = 0.896)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K-means V2 separates 21 students into support and critical-intervention groups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Original clustering confirms a practical-strong, theory-deficit 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60FB2-6A49-4441-8BB9-A96CDA43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8BC77-4343-4DB1-80E9-D80FA6ED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4810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Prioritize theory reinforcement for developing learners, intensive recovery plans for the critical group, and enrichment opportunities for high achievers.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C3D4D-5B12-462E-801F-D4E52A10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  |  Academic Result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B8A3D-83A3-48E0-AD9F-63DC32AC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40751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21EFC-EA1B-4A1E-A96B-6AF1FA36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 foundation and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78F7C-83FF-4255-BFE7-5C6DDC33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 clean academic record supports reliable descriptive analysis and clustering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D3A52-DA05-4D2B-91DC-84E6BD00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6191250" cy="2952750"/>
        </p:xfrm>
        <a:graphic xmlns:a="http://schemas.openxmlformats.org/drawingml/2006/main">
          <a:graphicData uri="http://schemas.openxmlformats.org/drawingml/2006/table">
            <a:tbl>
              <a:tblPr firstCol="1" bandRow="1"/>
              <a:tblGrid>
                <a:gridCol w="3095625"/>
                <a:gridCol w="3095625"/>
              </a:tblGrid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AI_DS_SEM4_MASTER_RESULTS.csv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Coverage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88 students × 113 columns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Courses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11 assessed courses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Completeness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 missing values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Uniqueness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 duplicate students or rows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350D3-C9D6-43F9-9368-2373BED3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Analytical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FE0D5-94AE-492D-AE55-45E11AA0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476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Cohort composition and result status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Percentage and SGPI distributions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Course-level averages, grades, and correlations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Theory versus lab performance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Two K-means segmentation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5D30B-3659-4B1F-8BDD-8CC3B52A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2912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Caveat: The dataset represents one semester and one cohort. Clusters are descriptive groups, not individual predictions.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E53D9-A318-4459-97D3-A5E36EC1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  |  Academic Result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6FB0C-9E73-4218-BD6A-04734B95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2783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31855-5E5C-4558-B5AA-F0945C3D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28E66-98CE-4B1C-838E-2DBE8646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60 students succeeded, while 28 need follow-up or remediation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EDA7E-534E-4C69-B2AE-68B1E82E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4476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2cf341ca44403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A6E8D-6247-48C4-AD54-53A2FF60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Distribution highlights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A7E2B-F8C1-4ECF-B2DC-14F9AA5B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Mean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CFDD1-4AB9-496C-B8EE-B0B6D8C3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431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483.9 / 775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A16D6-7387-4AF8-B89E-C30CD0A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Median percentage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55658-B987-4EE4-9E4A-91F9C2DC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66.91%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B0534-3E76-45AF-BE6C-D4755F4B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5F714-AA6A-4482-9929-E030EF85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46C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B46C1"/>
                </a:solidFill>
                <a:latin typeface="Aptos"/>
                <a:ea typeface="Aptos"/>
                <a:cs typeface="Aptos"/>
              </a:rPr>
              <a:t>1.29% to 85.55%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6F156-F263-4F40-BFFF-52B01EB9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9112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SGPI distribution includes zeros for unsuccessful and absent outcomes, so median performance better describes the successful core than the overall mean.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F8887-FD36-44D6-8E1F-470B9C45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  |  Academic Result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64383-47B4-413F-A2E4-E6E0490A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2505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2282D-7EC5-423A-90C3-092AD184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Performance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30C19-E957-4A75-8FB4-6A6B0B37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cohort concentrates in the mid-to-high range, with a distinct lower-performing 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5D4FD-388F-4195-A2D8-35563311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cad8878aa43c3"/>
          <a:stretch xmlns:a="http://schemas.openxmlformats.org/drawingml/2006/main"/>
        </p:blipFill>
        <p:spPr>
          <a:xfrm xmlns:a="http://schemas.openxmlformats.org/drawingml/2006/main">
            <a:off x="523875" y="1935856"/>
            <a:ext cx="5381625" cy="2652914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36750735a4a3c"/>
          <a:stretch xmlns:a="http://schemas.openxmlformats.org/drawingml/2006/main"/>
        </p:blipFill>
        <p:spPr>
          <a:xfrm xmlns:a="http://schemas.openxmlformats.org/drawingml/2006/main">
            <a:off x="6286500" y="1843963"/>
            <a:ext cx="5381625" cy="283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070A6-E247-445E-A0C2-9C50982D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Percentage distribution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796C1-02D2-44F8-BF28-E8EAC35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19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SGPI distribution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3B08F-C15E-4F9F-9878-4F7B8251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lower tail reflects the 27 unsuccessful outcomes and one absence. These students should not be treated as a homogeneous group: the V2 model separates developing learners from severe underperformance.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78289-AAC1-4630-93BF-C8623776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  |  Academic Result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5267C-7D5D-4247-83C3-E7D2FD7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1088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49C70-1E93-448C-88C6-79310D33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Subject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17D87-2295-4EE4-8549-E1EE0CF7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DBMS aligns most closely with total marks, while theory performance needs the closest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6A239-5A98-45CD-AB99-6A97B5C2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e83b2800d247e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59DC1-E386-45CE-A493-0036676D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Correlation with overall total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0" y="1809750"/>
          <a:ext xmlns:a="http://schemas.openxmlformats.org/drawingml/2006/main" cx="3905250" cy="2809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01750"/>
                <a:gridCol w="1301750"/>
                <a:gridCol w="1301750"/>
              </a:tblGrid>
              <a:tr h="468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Course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 grades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DBMS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59.1 /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15</a:t>
                      </a:r>
                    </a:p>
                  </a:txBody>
                  <a:tcPr marL="91440" marR="91440" marT="45720" marB="45720"/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57.2 /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16</a:t>
                      </a:r>
                    </a:p>
                  </a:txBody>
                  <a:tcPr marL="91440" marR="91440" marT="45720" marB="45720"/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FTS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56.1 /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17</a:t>
                      </a:r>
                    </a:p>
                  </a:txBody>
                  <a:tcPr marL="91440" marR="91440" marT="45720" marB="45720"/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58.0 /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15</a:t>
                      </a:r>
                    </a:p>
                  </a:txBody>
                  <a:tcPr marL="91440" marR="91440" marT="45720" marB="45720"/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DBMS Lab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37.6 / 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FFE84-7963-4A0B-9EB4-BA8AEF84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DBMS has the highest observed correlation with overall total (r = 0.896). The course-level view points to broad theory reinforcement rather than a single-course intervention.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D580D-426B-41E7-9ECC-C2F42E43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  |  Academic Result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ADDAF-70D7-48A6-921B-8FAF392D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2414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F0E5F-F924-4C14-A49C-D4FE51D6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 and lab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37108-0D14-443D-964E-EA498C94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Average theory performance lags lab performance when measured against their different marking scales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A5C46-D547-4B1C-9D59-E360D4C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c25e066a54c5e"/>
          <a:stretch xmlns:a="http://schemas.openxmlformats.org/drawingml/2006/main"/>
        </p:blipFill>
        <p:spPr>
          <a:xfrm xmlns:a="http://schemas.openxmlformats.org/drawingml/2006/main">
            <a:off x="571500" y="1628398"/>
            <a:ext cx="6477000" cy="35535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6B321-634D-4F96-948C-F19EA813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668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Cohort averages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7D4BC-29DC-40DD-85C5-11F5FA87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38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55.6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77DFC-84BB-4A00-92A0-E8D985A2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574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Mean theory score</a:t>
            </a:r>
          </a:p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(out of 100)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5A885-7B01-4EA1-B1C2-41ACA93B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34.4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73764-3913-403C-89F2-9957F43C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57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Mean lab score</a:t>
            </a:r>
          </a:p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(out of 50)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3EADD-91F0-481E-ADE0-0DEB37A1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81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13F99-8E08-41A5-B9AD-408C47B4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815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Practical marks are generally stronger. This pattern becomes central to the original K-means model, which identifies a practical-strong group with clear theory deficits.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D17BC-F0E6-41BB-BFFD-D7B31B12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  |  Academic Result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C314B-F106-45FD-A808-D5068DAE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39733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DBBBA-5229-4CF5-8E0E-A70E6502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K-means segmentation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DDA68-D01D-4AF4-BC8B-DB666435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 compact model uses four performance signals to distinguish high achievement, theory deficit, and multi-subject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77439-D404-46E1-BCDD-EE6A8A57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904D1-1D7A-47B6-BD3C-62123CC7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F2529-FC71-4CD8-B3BA-FBC543E6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66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 average %</a:t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Lab average %</a:t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Failed subjects count</a:t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Overall percentage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0A5C5-74C4-49EA-8A19-B4BC95E1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Three cluster profiles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476750" y="2047875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66875"/>
                <a:gridCol w="1666875"/>
                <a:gridCol w="1666875"/>
                <a:gridCol w="1666875"/>
              </a:tblGrid>
              <a:tr h="50006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Profile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Students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 %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Pass rate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Academic Leaders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70.7%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96.8% pass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Practical-Strong / Theory-Deficit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50.5%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0% pass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At-Risk / Multi-Subject Deficit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25.2%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0% pass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4DE59-F675-4194-A2F8-769EDEFC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Why this model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A85C7-3E27-4F8B-9793-F39F7A1C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It avoids treating a zero SGPI as a complete picture of competency. Students with practical strength but theory failures receive a distinct profile rather than being grouped with severe underperformance.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2303E-C31C-4D8A-90A9-D20DE535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  |  Academic Result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47E6B-859F-4D05-8383-1CF3199B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0196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E8E38-B241-4EC6-AECA-EA8CE412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3C791-0E79-4DD9-AC5D-5997D23B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first model isolates a broad high-achiever group, a theory-deficit group, and a small critical-risk group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80895-A38A-4B23-B658-9DF65743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14d17ea934665"/>
          <a:stretch xmlns:a="http://schemas.openxmlformats.org/drawingml/2006/main"/>
        </p:blipFill>
        <p:spPr>
          <a:xfrm xmlns:a="http://schemas.openxmlformats.org/drawingml/2006/main">
            <a:off x="608228" y="1428750"/>
            <a:ext cx="5165294" cy="38576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43eeda96c4ed6"/>
          <a:stretch xmlns:a="http://schemas.openxmlformats.org/drawingml/2006/main"/>
        </p:blipFill>
        <p:spPr>
          <a:xfrm xmlns:a="http://schemas.openxmlformats.org/drawingml/2006/main">
            <a:off x="6372669" y="1428750"/>
            <a:ext cx="5161662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5FD13-5929-4E33-8350-E817E500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PCA 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C8C2E-7FB5-4132-9797-0CB9F2C3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29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 versus lab by cluster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49490-7F59-4A07-BC73-557DE50B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practical-strong segment provides the key operational insight: academic support should target theory recovery without assuming weak lab competency.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1B973-90E8-4D26-B20A-BA38522A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  |  Academic Result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4915F-108D-49FB-8230-B05E492C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5072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916CC-9D91-4C8C-BB7D-FB63F106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K-means V2: competency-based segmentation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B1D65-2829-406C-A218-299F06BD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V2 uses 17 features to separate performance level, learning mode, consistency, and assessment balance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86B51-F54E-4DFC-B212-73E1D7B6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F5E9B-1091-4118-B749-E75EF7E0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Feature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411FA-2097-47E5-AAEE-15EA03B2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11 course-level percentages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Theory, practical, and coursework averages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Subject-level consistency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External–internal assessment gap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Cumulative percentage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72344-DA86-468D-A5F2-25FCB962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66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 selection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FD8B6-0A29-44EC-86A3-A29F4474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K =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9B23F-ACC4-4231-B4FC-410058C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Selected clusters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BDCE7-A758-4F63-848B-DBF0A9C8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Silhouette = 0.2471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EA4D0-28AA-4D59-BCBC-987A8316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671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Separation is modest, so use personas as a planning lens rather than rigid labels.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d9883a85744d4"/>
          <a:stretch xmlns:a="http://schemas.openxmlformats.org/drawingml/2006/main"/>
        </p:blipFill>
        <p:spPr>
          <a:xfrm xmlns:a="http://schemas.openxmlformats.org/drawingml/2006/main">
            <a:off x="8191500" y="1738313"/>
            <a:ext cx="3048000" cy="15240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2bfe1ee454233"/>
          <a:stretch xmlns:a="http://schemas.openxmlformats.org/drawingml/2006/main"/>
        </p:blipFill>
        <p:spPr>
          <a:xfrm xmlns:a="http://schemas.openxmlformats.org/drawingml/2006/main">
            <a:off x="8191500" y="3881438"/>
            <a:ext cx="3048000" cy="1524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7E632-162E-4D98-A85F-7C1783CB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  |  Academic Result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8F79E-233A-4674-8B0D-3B6BA461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64179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134D5-A676-4C9C-AC06-6A33CE3C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K-means V2 personas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7E32A-C372-4C09-809D-3B3B13E8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V2 splits the original middle-to-lower segment into a focused support group and a critical intervention group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CA7D8-1444-4DC0-BE32-124BADFB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66675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  <a:gridCol w="1333500"/>
                <a:gridCol w="1333500"/>
              </a:tblGrid>
              <a:tr h="5905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Persona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Students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 %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Theory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Practical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High achievers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75.86%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73.2%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80.5%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Solid performers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64.08%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58.4%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73.6%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Developing support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47.01%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39.5%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64.3%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Critical intervention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25.19%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31.7%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7.9%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6f9d3a8ec47f9"/>
          <a:stretch xmlns:a="http://schemas.openxmlformats.org/drawingml/2006/main"/>
        </p:blipFill>
        <p:spPr>
          <a:xfrm xmlns:a="http://schemas.openxmlformats.org/drawingml/2006/main">
            <a:off x="7667625" y="1700672"/>
            <a:ext cx="3619500" cy="288515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D3AB9-3566-4C4B-A02A-E1E909DD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Planning implication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43155-29B4-4EB2-A652-B679752A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13 developing learners retain practical strength and need theory reinforcement. The 8 critical learners need broader attendance, practical, and multi-subject recovery support.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FF64D-2264-4EFF-ADCF-38FC2F8C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  |  Academic Result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D1DD7-C12C-418B-8E1C-96FC9A0C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908441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C7670-E5AF-4F32-A56C-944C730E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From segmentation to academic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B8A3F-6FCE-4E35-805F-D39158AB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Use V2 for differentiated planning, with the original model retained as a clear diagnostic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A5534-B50C-4F38-958C-1565A9F2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1E51C-AF0D-42C2-9D20-183FC040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26EA5-3DD3-41B7-A1E5-FE8C8182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 groups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 derived indicators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Highlights practical strength versus theory deficit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Best for a simple risk and competency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B588B-DCE5-43DB-AB0F-447998AA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19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V2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E1FA5-7456-42AD-95A7-94AB7A3B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 groups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17 competency and consistency features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Separates developing support from critical intervention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Best for targeted cohort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4F929-BFFE-4DC6-8174-3EBCBF05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59D0E-7584-4105-9502-94708592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Recommended academic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9977F-A9B8-440C-93D1-42BC3CDF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High achievers (33)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CC66E-4189-402F-BE8F-B0F63765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57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Enrichment, peer tutoring, advanced project opportunities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C65A1-6E45-4FAB-BAE9-56E6836E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Solid performers (34)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79666-7CCB-4572-BFCE-AF85EE02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006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Targeted theory practice to improve consistency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DB808-B40E-400C-8125-D03AEB88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Developing support (13)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96FA0-DDF5-4A58-98A9-A233E953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Structured theory recovery with weekly checkpoints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1ED55-2D69-40F5-905C-B3083382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Critical intervention (8)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45BC5-5EFA-43E9-87C0-B058E29E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864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Individual remediation plan and attendance follow-up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B84B8-194D-4103-80AE-79BEB15F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Next step: validate interventions with the next semester’s outcomes before using the segments operationally.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DA85D-C47A-4D92-9A27-3511DAF4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  |  Academic Result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BF222-0846-4BF4-8CDB-9A3EE3FF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30514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2026-09-09T19:12:10.3710000Z</dcterms:created>
  <dcterms:modified xsi:type="dcterms:W3CDTF">2026-09-09T19:12:10.3710000Z</dcterms:modified>
</coreProperties>
</file>